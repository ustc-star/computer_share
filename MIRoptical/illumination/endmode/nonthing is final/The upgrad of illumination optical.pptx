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3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4901-FF26-4B5D-AEEA-3374292900B0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D165-7906-4260-922A-E56F63FDA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635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4901-FF26-4B5D-AEEA-3374292900B0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D165-7906-4260-922A-E56F63FDA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1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4901-FF26-4B5D-AEEA-3374292900B0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D165-7906-4260-922A-E56F63FDA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855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4901-FF26-4B5D-AEEA-3374292900B0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D165-7906-4260-922A-E56F63FDA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96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4901-FF26-4B5D-AEEA-3374292900B0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D165-7906-4260-922A-E56F63FDA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66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4901-FF26-4B5D-AEEA-3374292900B0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D165-7906-4260-922A-E56F63FDA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55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4901-FF26-4B5D-AEEA-3374292900B0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D165-7906-4260-922A-E56F63FDA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8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4901-FF26-4B5D-AEEA-3374292900B0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D165-7906-4260-922A-E56F63FDA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8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4901-FF26-4B5D-AEEA-3374292900B0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D165-7906-4260-922A-E56F63FDA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59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4901-FF26-4B5D-AEEA-3374292900B0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D165-7906-4260-922A-E56F63FDA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9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C4901-FF26-4B5D-AEEA-3374292900B0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D165-7906-4260-922A-E56F63FDA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32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C4901-FF26-4B5D-AEEA-3374292900B0}" type="datetimeFigureOut">
              <a:rPr lang="en-US" smtClean="0"/>
              <a:t>7/29/2019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0D165-7906-4260-922A-E56F63FDA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280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The </a:t>
            </a:r>
            <a:r>
              <a:rPr lang="en-US" altLang="zh-CN" dirty="0" err="1" smtClean="0"/>
              <a:t>upgrad</a:t>
            </a:r>
            <a:r>
              <a:rPr lang="en-US" altLang="zh-CN" dirty="0" smtClean="0"/>
              <a:t> of illumination optical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ECEI &amp;MIR group</a:t>
            </a:r>
          </a:p>
          <a:p>
            <a:r>
              <a:rPr lang="en-US" altLang="zh-CN" dirty="0" smtClean="0"/>
              <a:t>2019/7/29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7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Optical arrangement</a:t>
            </a:r>
            <a:endParaRPr 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1066800" y="1690688"/>
            <a:ext cx="10058400" cy="4597917"/>
            <a:chOff x="2089874" y="1734649"/>
            <a:chExt cx="10058400" cy="4597917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9874" y="1734649"/>
              <a:ext cx="10058400" cy="4597917"/>
            </a:xfrm>
            <a:prstGeom prst="rect">
              <a:avLst/>
            </a:prstGeom>
          </p:spPr>
        </p:pic>
        <p:sp>
          <p:nvSpPr>
            <p:cNvPr id="5" name="右箭头 4"/>
            <p:cNvSpPr/>
            <p:nvPr/>
          </p:nvSpPr>
          <p:spPr>
            <a:xfrm rot="16200000">
              <a:off x="2741790" y="3701377"/>
              <a:ext cx="369277" cy="795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328731" y="3969727"/>
              <a:ext cx="19709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zoom</a:t>
              </a:r>
              <a:r>
                <a:rPr lang="en-US" dirty="0" smtClean="0"/>
                <a:t> lens(moveable)</a:t>
              </a:r>
              <a:endParaRPr lang="en-US" dirty="0"/>
            </a:p>
          </p:txBody>
        </p:sp>
        <p:sp>
          <p:nvSpPr>
            <p:cNvPr id="7" name="右箭头 6"/>
            <p:cNvSpPr/>
            <p:nvPr/>
          </p:nvSpPr>
          <p:spPr>
            <a:xfrm rot="5400000">
              <a:off x="2627120" y="2827827"/>
              <a:ext cx="369277" cy="795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151420" y="2125688"/>
              <a:ext cx="161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gain</a:t>
              </a:r>
              <a:r>
                <a:rPr lang="en-US" dirty="0" smtClean="0"/>
                <a:t> </a:t>
              </a:r>
              <a:r>
                <a:rPr lang="en-US" dirty="0"/>
                <a:t>lens</a:t>
              </a:r>
            </a:p>
          </p:txBody>
        </p:sp>
        <p:sp>
          <p:nvSpPr>
            <p:cNvPr id="9" name="右箭头 8"/>
            <p:cNvSpPr/>
            <p:nvPr/>
          </p:nvSpPr>
          <p:spPr>
            <a:xfrm rot="5400000">
              <a:off x="6873124" y="2495386"/>
              <a:ext cx="369277" cy="795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538781" y="1857907"/>
              <a:ext cx="1749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Frist lens</a:t>
              </a:r>
              <a:endParaRPr lang="en-US" dirty="0"/>
            </a:p>
          </p:txBody>
        </p:sp>
        <p:sp>
          <p:nvSpPr>
            <p:cNvPr id="11" name="右箭头 10"/>
            <p:cNvSpPr/>
            <p:nvPr/>
          </p:nvSpPr>
          <p:spPr>
            <a:xfrm rot="16200000">
              <a:off x="7174024" y="5096089"/>
              <a:ext cx="479182" cy="1274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109549" y="5496663"/>
              <a:ext cx="1160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window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09752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questions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1.beam size</a:t>
            </a:r>
          </a:p>
          <a:p>
            <a:r>
              <a:rPr lang="en-US" dirty="0" smtClean="0"/>
              <a:t>2.optical lens size</a:t>
            </a:r>
          </a:p>
          <a:p>
            <a:r>
              <a:rPr lang="en-US" dirty="0" smtClean="0"/>
              <a:t>3.beamsplite size</a:t>
            </a:r>
          </a:p>
          <a:p>
            <a:r>
              <a:rPr lang="en-US" dirty="0" smtClean="0"/>
              <a:t>4.curvature  </a:t>
            </a:r>
            <a:r>
              <a:rPr lang="en-US" altLang="zh-CN" dirty="0" smtClean="0"/>
              <a:t>adjustable range</a:t>
            </a:r>
            <a:endParaRPr lang="en-US" dirty="0" smtClean="0"/>
          </a:p>
          <a:p>
            <a:r>
              <a:rPr lang="en-US" dirty="0" smtClean="0"/>
              <a:t>5.radius </a:t>
            </a:r>
            <a:r>
              <a:rPr lang="en-US" altLang="zh-CN" dirty="0"/>
              <a:t>adjustable range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33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946" y="154109"/>
            <a:ext cx="11514992" cy="1325563"/>
          </a:xfrm>
        </p:spPr>
        <p:txBody>
          <a:bodyPr/>
          <a:lstStyle/>
          <a:p>
            <a:r>
              <a:rPr lang="en-US" altLang="zh-CN" dirty="0" smtClean="0"/>
              <a:t>Beam size( gain lens to </a:t>
            </a:r>
            <a:r>
              <a:rPr lang="en-US" altLang="zh-CN" dirty="0" err="1" smtClean="0"/>
              <a:t>frist</a:t>
            </a:r>
            <a:r>
              <a:rPr lang="en-US" altLang="zh-CN" dirty="0" smtClean="0"/>
              <a:t> lens :</a:t>
            </a:r>
            <a:r>
              <a:rPr lang="en-US" altLang="zh-CN" dirty="0" smtClean="0"/>
              <a:t>2430mm)</a:t>
            </a:r>
            <a:endParaRPr 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606277"/>
              </p:ext>
            </p:extLst>
          </p:nvPr>
        </p:nvGraphicFramePr>
        <p:xfrm>
          <a:off x="1090246" y="1871457"/>
          <a:ext cx="909124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0108">
                  <a:extLst>
                    <a:ext uri="{9D8B030D-6E8A-4147-A177-3AD203B41FA5}">
                      <a16:colId xmlns:a16="http://schemas.microsoft.com/office/drawing/2014/main" val="4104809612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3399730933"/>
                    </a:ext>
                  </a:extLst>
                </a:gridCol>
                <a:gridCol w="1200028">
                  <a:extLst>
                    <a:ext uri="{9D8B030D-6E8A-4147-A177-3AD203B41FA5}">
                      <a16:colId xmlns:a16="http://schemas.microsoft.com/office/drawing/2014/main" val="21736630"/>
                    </a:ext>
                  </a:extLst>
                </a:gridCol>
                <a:gridCol w="1348075">
                  <a:extLst>
                    <a:ext uri="{9D8B030D-6E8A-4147-A177-3AD203B41FA5}">
                      <a16:colId xmlns:a16="http://schemas.microsoft.com/office/drawing/2014/main" val="4191297808"/>
                    </a:ext>
                  </a:extLst>
                </a:gridCol>
                <a:gridCol w="1269972">
                  <a:extLst>
                    <a:ext uri="{9D8B030D-6E8A-4147-A177-3AD203B41FA5}">
                      <a16:colId xmlns:a16="http://schemas.microsoft.com/office/drawing/2014/main" val="418291402"/>
                    </a:ext>
                  </a:extLst>
                </a:gridCol>
                <a:gridCol w="1527649">
                  <a:extLst>
                    <a:ext uri="{9D8B030D-6E8A-4147-A177-3AD203B41FA5}">
                      <a16:colId xmlns:a16="http://schemas.microsoft.com/office/drawing/2014/main" val="3301146056"/>
                    </a:ext>
                  </a:extLst>
                </a:gridCol>
              </a:tblGrid>
              <a:tr h="35344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Distance</a:t>
                      </a:r>
                      <a:r>
                        <a:rPr lang="zh-CN" altLang="en-US" dirty="0" smtClean="0"/>
                        <a:t>（</a:t>
                      </a:r>
                      <a:r>
                        <a:rPr lang="en-US" altLang="zh-CN" dirty="0" smtClean="0"/>
                        <a:t>e-f</a:t>
                      </a:r>
                      <a:r>
                        <a:rPr lang="zh-CN" altLang="en-US" dirty="0" smtClean="0"/>
                        <a:t>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20/mm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100/mm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200/mm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300/mm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350/mm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07163"/>
                  </a:ext>
                </a:extLst>
              </a:tr>
              <a:tr h="35344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Mirror1(long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en-US" altLang="zh-CN" baseline="0" dirty="0" smtClean="0"/>
                        <a:t>side,</a:t>
                      </a:r>
                      <a:r>
                        <a:rPr lang="en-US" altLang="zh-CN" dirty="0" smtClean="0"/>
                        <a:t> 45</a:t>
                      </a:r>
                      <a:r>
                        <a:rPr lang="en-US" altLang="zh-CN" baseline="30000" dirty="0" smtClean="0"/>
                        <a:t>O</a:t>
                      </a:r>
                      <a:r>
                        <a:rPr lang="en-US" altLang="zh-CN" baseline="0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506707"/>
                  </a:ext>
                </a:extLst>
              </a:tr>
              <a:tr h="35344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beamsplitter</a:t>
                      </a:r>
                      <a:r>
                        <a:rPr lang="en-US" dirty="0" smtClean="0"/>
                        <a:t>(long </a:t>
                      </a:r>
                      <a:r>
                        <a:rPr lang="en-US" dirty="0" smtClean="0"/>
                        <a:t>side,</a:t>
                      </a:r>
                      <a:r>
                        <a:rPr lang="en-US" altLang="zh-CN" dirty="0" smtClean="0"/>
                        <a:t> 45</a:t>
                      </a:r>
                      <a:r>
                        <a:rPr lang="en-US" altLang="zh-CN" baseline="30000" dirty="0" smtClean="0"/>
                        <a:t>O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291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12433"/>
                  </a:ext>
                </a:extLst>
              </a:tr>
              <a:tr h="353448">
                <a:tc>
                  <a:txBody>
                    <a:bodyPr/>
                    <a:lstStyle/>
                    <a:p>
                      <a:r>
                        <a:rPr lang="en-US" dirty="0" smtClean="0"/>
                        <a:t>Frist lens(550)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498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441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292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22300"/>
                  </a:ext>
                </a:extLst>
              </a:tr>
              <a:tr h="61853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Illumination radius </a:t>
                      </a:r>
                      <a:r>
                        <a:rPr lang="en-US" dirty="0" smtClean="0"/>
                        <a:t>(r=0.25m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133</a:t>
                      </a:r>
                    </a:p>
                    <a:p>
                      <a:r>
                        <a:rPr lang="en-US" dirty="0" smtClean="0"/>
                        <a:t>(744)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111</a:t>
                      </a:r>
                    </a:p>
                    <a:p>
                      <a:r>
                        <a:rPr lang="en-US" dirty="0" smtClean="0"/>
                        <a:t>(687)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80.5365</a:t>
                      </a:r>
                    </a:p>
                    <a:p>
                      <a:r>
                        <a:rPr lang="en-US" dirty="0" smtClean="0"/>
                        <a:t>(558)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46.5267</a:t>
                      </a:r>
                    </a:p>
                    <a:p>
                      <a:r>
                        <a:rPr lang="en-US" dirty="0" smtClean="0"/>
                        <a:t>(356.2836)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28</a:t>
                      </a:r>
                    </a:p>
                    <a:p>
                      <a:r>
                        <a:rPr lang="en-US" dirty="0" smtClean="0"/>
                        <a:t>(232.5078)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50019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14400" y="4996962"/>
            <a:ext cx="722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The size of beamsplitter:460</a:t>
            </a:r>
            <a:r>
              <a:rPr lang="zh-CN" altLang="en-US" dirty="0" smtClean="0"/>
              <a:t>*</a:t>
            </a:r>
            <a:r>
              <a:rPr lang="en-US" altLang="zh-CN" dirty="0" smtClean="0"/>
              <a:t>610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703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885" y="215656"/>
            <a:ext cx="10515600" cy="1325563"/>
          </a:xfrm>
        </p:spPr>
        <p:txBody>
          <a:bodyPr/>
          <a:lstStyle/>
          <a:p>
            <a:r>
              <a:rPr lang="en-US" dirty="0" smtClean="0"/>
              <a:t>Illumination size and adjustable curvature size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577" y="1674933"/>
            <a:ext cx="5334000" cy="4000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54" y="1688007"/>
            <a:ext cx="5334000" cy="397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556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6508" y="127733"/>
            <a:ext cx="10515600" cy="1325563"/>
          </a:xfrm>
        </p:spPr>
        <p:txBody>
          <a:bodyPr/>
          <a:lstStyle/>
          <a:p>
            <a:r>
              <a:rPr lang="en-US" altLang="zh-CN" dirty="0" smtClean="0"/>
              <a:t>Robust analysis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94" y="1514842"/>
            <a:ext cx="5494702" cy="412102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754" y="1453296"/>
            <a:ext cx="5465884" cy="43428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95654" y="6216162"/>
                <a:ext cx="99001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 smtClean="0"/>
                  <a:t>0cm</a:t>
                </a:r>
                <a:r>
                  <a:rPr lang="zh-CN" altLang="en-US" dirty="0" smtClean="0"/>
                  <a:t>的测量误差可导致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 smtClean="0"/>
                  <a:t>00cm</a:t>
                </a:r>
                <a:r>
                  <a:rPr lang="zh-CN" altLang="en-US" dirty="0" smtClean="0"/>
                  <a:t>（</a:t>
                </a:r>
                <a:r>
                  <a:rPr lang="en-US" altLang="zh-CN" dirty="0" smtClean="0"/>
                  <a:t>14%</a:t>
                </a:r>
                <a:r>
                  <a:rPr lang="zh-CN" altLang="en-US" dirty="0" smtClean="0"/>
                  <a:t>）的波前曲率误差和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 smtClean="0"/>
                  <a:t>0(9%)</a:t>
                </a:r>
                <a:r>
                  <a:rPr lang="zh-CN" altLang="en-US" dirty="0" smtClean="0"/>
                  <a:t>的照明范围误差</a:t>
                </a:r>
                <a:endParaRPr 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54" y="6216162"/>
                <a:ext cx="9900138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2069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Beam splitter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879123" y="843240"/>
            <a:ext cx="422030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RO4730,</a:t>
            </a:r>
            <a:r>
              <a:rPr lang="zh-CN" altLang="en-US" b="1" dirty="0" smtClean="0"/>
              <a:t>板厚</a:t>
            </a:r>
            <a:r>
              <a:rPr lang="en-US" altLang="zh-CN" b="1" dirty="0" smtClean="0"/>
              <a:t>1.524mm</a:t>
            </a:r>
            <a:r>
              <a:rPr lang="zh-CN" altLang="en-US" b="1" dirty="0" smtClean="0"/>
              <a:t>，介电常数：</a:t>
            </a:r>
            <a:r>
              <a:rPr lang="en-US" altLang="zh-CN" b="1" dirty="0" smtClean="0"/>
              <a:t>3.0</a:t>
            </a:r>
            <a:endParaRPr lang="en-US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31" y="1848949"/>
            <a:ext cx="5334000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266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Beamsplitter</a:t>
            </a:r>
            <a:r>
              <a:rPr lang="en-US" altLang="zh-CN" dirty="0" smtClean="0"/>
              <a:t> incident angle  80</a:t>
            </a:r>
            <a:r>
              <a:rPr lang="en-US" altLang="zh-CN" baseline="30000" dirty="0" smtClean="0"/>
              <a:t>o</a:t>
            </a:r>
            <a:endParaRPr 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46"/>
          <a:stretch/>
        </p:blipFill>
        <p:spPr>
          <a:xfrm>
            <a:off x="776653" y="1567596"/>
            <a:ext cx="9932377" cy="3944264"/>
          </a:xfrm>
        </p:spPr>
      </p:pic>
    </p:spTree>
    <p:extLst>
      <p:ext uri="{BB962C8B-B14F-4D97-AF65-F5344CB8AC3E}">
        <p14:creationId xmlns:p14="http://schemas.microsoft.com/office/powerpoint/2010/main" val="1398125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" y="762000"/>
            <a:ext cx="11972925" cy="48577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9537" y="266700"/>
            <a:ext cx="2014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Raw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465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7" y="295911"/>
            <a:ext cx="9701213" cy="63378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525125" y="5572125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Made by </a:t>
            </a:r>
            <a:r>
              <a:rPr lang="en-US" dirty="0" err="1" smtClean="0"/>
              <a:t>qcm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516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165</Words>
  <Application>Microsoft Office PowerPoint</Application>
  <PresentationFormat>宽屏</PresentationFormat>
  <Paragraphs>59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等线 Light</vt:lpstr>
      <vt:lpstr>Arial</vt:lpstr>
      <vt:lpstr>Calibri</vt:lpstr>
      <vt:lpstr>Calibri Light</vt:lpstr>
      <vt:lpstr>Cambria Math</vt:lpstr>
      <vt:lpstr>Office 主题​​</vt:lpstr>
      <vt:lpstr>The upgrad of illumination optical</vt:lpstr>
      <vt:lpstr>Optical arrangement</vt:lpstr>
      <vt:lpstr>questions</vt:lpstr>
      <vt:lpstr>Beam size( gain lens to frist lens :2430mm)</vt:lpstr>
      <vt:lpstr>Illumination size and adjustable curvature size</vt:lpstr>
      <vt:lpstr>Robust analysis</vt:lpstr>
      <vt:lpstr>Beam splitter</vt:lpstr>
      <vt:lpstr>Beamsplitter incident angle  80o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upgrad of illumination optical</dc:title>
  <dc:creator>813649224@qq.com</dc:creator>
  <cp:lastModifiedBy>813649224@qq.com</cp:lastModifiedBy>
  <cp:revision>28</cp:revision>
  <dcterms:created xsi:type="dcterms:W3CDTF">2019-07-28T13:30:55Z</dcterms:created>
  <dcterms:modified xsi:type="dcterms:W3CDTF">2019-07-29T09:32:18Z</dcterms:modified>
</cp:coreProperties>
</file>