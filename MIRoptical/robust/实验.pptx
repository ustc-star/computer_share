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0" r:id="rId4"/>
    <p:sldId id="273" r:id="rId5"/>
    <p:sldId id="271" r:id="rId6"/>
    <p:sldId id="267" r:id="rId7"/>
    <p:sldId id="277" r:id="rId8"/>
    <p:sldId id="276" r:id="rId9"/>
    <p:sldId id="278" r:id="rId10"/>
    <p:sldId id="27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3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842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3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18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53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46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002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40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785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1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16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39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B5E65-3D51-4599-A675-5D1DDA4EDE92}" type="datetimeFigureOut">
              <a:rPr lang="zh-CN" altLang="en-US" smtClean="0"/>
              <a:t>2019/1/17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27255-D2DC-4252-ADB2-86A67CA6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69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95055"/>
            <a:ext cx="9144000" cy="1154690"/>
          </a:xfrm>
        </p:spPr>
        <p:txBody>
          <a:bodyPr/>
          <a:lstStyle/>
          <a:p>
            <a:r>
              <a:rPr lang="zh-CN" altLang="en-US" dirty="0" smtClean="0"/>
              <a:t>多普勒频移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GFX/LXZ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2223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9" y="1987073"/>
            <a:ext cx="8188625" cy="4870927"/>
          </a:xfrm>
        </p:spPr>
      </p:pic>
      <p:sp>
        <p:nvSpPr>
          <p:cNvPr id="5" name="文本框 4"/>
          <p:cNvSpPr txBox="1"/>
          <p:nvPr/>
        </p:nvSpPr>
        <p:spPr>
          <a:xfrm>
            <a:off x="318655" y="207818"/>
            <a:ext cx="4765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天线接收光路设置：</a:t>
            </a:r>
            <a:endParaRPr lang="en-US" altLang="zh-CN" sz="32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" t="37374" b="36970"/>
          <a:stretch/>
        </p:blipFill>
        <p:spPr>
          <a:xfrm>
            <a:off x="5637712" y="0"/>
            <a:ext cx="6554288" cy="232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5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41564" y="7758"/>
            <a:ext cx="112360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钢板</a:t>
            </a:r>
            <a:r>
              <a:rPr lang="zh-CN" altLang="en-US" sz="2400" dirty="0" smtClean="0"/>
              <a:t>为反射面，</a:t>
            </a:r>
            <a:r>
              <a:rPr lang="en-US" altLang="zh-CN" sz="2400" dirty="0" smtClean="0"/>
              <a:t>ECEI</a:t>
            </a:r>
            <a:r>
              <a:rPr lang="zh-CN" altLang="en-US" sz="2400" dirty="0"/>
              <a:t>信号</a:t>
            </a:r>
            <a:r>
              <a:rPr lang="zh-CN" altLang="en-US" sz="2400" dirty="0" smtClean="0"/>
              <a:t>源为的照明光路设置：</a:t>
            </a:r>
            <a:endParaRPr lang="en-US" altLang="zh-CN" sz="2400" dirty="0" smtClean="0"/>
          </a:p>
          <a:p>
            <a:r>
              <a:rPr lang="zh-CN" altLang="en-US" sz="2400" dirty="0" smtClean="0"/>
              <a:t>纹波喇叭束腰</a:t>
            </a:r>
            <a:r>
              <a:rPr lang="en-US" altLang="zh-CN" sz="2400" dirty="0" smtClean="0"/>
              <a:t>5.29mm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zh-CN" altLang="en-US" sz="2400" dirty="0" smtClean="0"/>
              <a:t>探测频率：</a:t>
            </a:r>
            <a:r>
              <a:rPr lang="en-US" altLang="zh-CN" sz="2400" dirty="0" smtClean="0"/>
              <a:t>90GHz;</a:t>
            </a:r>
            <a:r>
              <a:rPr lang="zh-CN" altLang="en-US" sz="2400" dirty="0"/>
              <a:t> </a:t>
            </a:r>
            <a:r>
              <a:rPr lang="zh-CN" altLang="en-US" sz="2400" dirty="0" smtClean="0"/>
              <a:t>天线本征频率：</a:t>
            </a:r>
            <a:r>
              <a:rPr lang="en-US" altLang="zh-CN" sz="2400" dirty="0" smtClean="0"/>
              <a:t>93GHz</a:t>
            </a:r>
          </a:p>
          <a:p>
            <a:endParaRPr lang="zh-CN" altLang="en-US" sz="24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46" b="11239"/>
          <a:stretch/>
        </p:blipFill>
        <p:spPr>
          <a:xfrm>
            <a:off x="7708675" y="544738"/>
            <a:ext cx="4473821" cy="6429230"/>
          </a:xfrm>
          <a:prstGeom prst="rect">
            <a:avLst/>
          </a:prstGeom>
        </p:spPr>
      </p:pic>
      <p:pic>
        <p:nvPicPr>
          <p:cNvPr id="22" name="图片 21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"/>
          <a:stretch/>
        </p:blipFill>
        <p:spPr>
          <a:xfrm>
            <a:off x="138545" y="1402149"/>
            <a:ext cx="8764513" cy="936814"/>
          </a:xfrm>
          <a:prstGeom prst="rect">
            <a:avLst/>
          </a:prstGeom>
        </p:spPr>
      </p:pic>
      <p:pic>
        <p:nvPicPr>
          <p:cNvPr id="23" name="图片 22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9" y="2509065"/>
            <a:ext cx="7578436" cy="307993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203270" y="2356140"/>
            <a:ext cx="2402875" cy="323286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301345" y="3105675"/>
            <a:ext cx="1211707" cy="65367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840702" y="2023631"/>
            <a:ext cx="763950" cy="374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65102" y="1982066"/>
            <a:ext cx="763950" cy="374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144654" y="1994260"/>
            <a:ext cx="763950" cy="374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64847" y="2477237"/>
            <a:ext cx="1241044" cy="31117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32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3964" y="65190"/>
            <a:ext cx="11236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钢板</a:t>
            </a:r>
            <a:r>
              <a:rPr lang="zh-CN" altLang="en-US" sz="2400" dirty="0" smtClean="0"/>
              <a:t>为反射面，</a:t>
            </a:r>
            <a:r>
              <a:rPr lang="en-US" altLang="zh-CN" sz="2400" dirty="0" smtClean="0"/>
              <a:t>MIR</a:t>
            </a:r>
            <a:r>
              <a:rPr lang="zh-CN" altLang="en-US" sz="2400" dirty="0" smtClean="0"/>
              <a:t>照明源：</a:t>
            </a:r>
            <a:r>
              <a:rPr lang="en-US" altLang="zh-CN" sz="2400" dirty="0" smtClean="0"/>
              <a:t>WH=6.9mm,  WE=12.2mm.</a:t>
            </a:r>
            <a:endParaRPr lang="zh-CN" altLang="en-US" sz="24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676401" y="2531196"/>
            <a:ext cx="8672944" cy="3463636"/>
            <a:chOff x="526473" y="2341419"/>
            <a:chExt cx="8672944" cy="3463636"/>
          </a:xfrm>
        </p:grpSpPr>
        <p:pic>
          <p:nvPicPr>
            <p:cNvPr id="9" name="图片 8" descr="屏幕剪辑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1" t="4756"/>
            <a:stretch/>
          </p:blipFill>
          <p:spPr>
            <a:xfrm>
              <a:off x="526473" y="2365729"/>
              <a:ext cx="8598900" cy="341161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6123708" y="2341419"/>
              <a:ext cx="3075709" cy="3463636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96413" y="701551"/>
            <a:ext cx="11349172" cy="1261661"/>
            <a:chOff x="210268" y="525577"/>
            <a:chExt cx="11349172" cy="1261661"/>
          </a:xfrm>
        </p:grpSpPr>
        <p:pic>
          <p:nvPicPr>
            <p:cNvPr id="8" name="图片 7" descr="屏幕剪辑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268" y="525577"/>
              <a:ext cx="11349172" cy="1193284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/>
          </p:nvGrpSpPr>
          <p:grpSpPr>
            <a:xfrm>
              <a:off x="2646218" y="1385454"/>
              <a:ext cx="8797638" cy="401784"/>
              <a:chOff x="2646218" y="1385454"/>
              <a:chExt cx="8797638" cy="401784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2646218" y="1385454"/>
                <a:ext cx="900546" cy="37407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8492836" y="1385454"/>
                <a:ext cx="900546" cy="37407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0460183" y="1413164"/>
                <a:ext cx="983673" cy="37407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7" name="文本框 16"/>
          <p:cNvSpPr txBox="1"/>
          <p:nvPr/>
        </p:nvSpPr>
        <p:spPr>
          <a:xfrm>
            <a:off x="1440873" y="6090867"/>
            <a:ext cx="9850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     </a:t>
            </a:r>
            <a:r>
              <a:rPr lang="zh-CN" altLang="en-US" dirty="0" smtClean="0">
                <a:solidFill>
                  <a:srgbClr val="FF0000"/>
                </a:solidFill>
              </a:rPr>
              <a:t>通过</a:t>
            </a:r>
            <a:r>
              <a:rPr lang="en-US" altLang="zh-CN" dirty="0" err="1" smtClean="0">
                <a:solidFill>
                  <a:srgbClr val="FF0000"/>
                </a:solidFill>
              </a:rPr>
              <a:t>CodeV</a:t>
            </a:r>
            <a:r>
              <a:rPr lang="zh-CN" altLang="en-US" dirty="0" smtClean="0">
                <a:solidFill>
                  <a:srgbClr val="FF0000"/>
                </a:solidFill>
              </a:rPr>
              <a:t>计算</a:t>
            </a:r>
            <a:r>
              <a:rPr lang="en-US" altLang="zh-CN" dirty="0" smtClean="0">
                <a:solidFill>
                  <a:srgbClr val="FF0000"/>
                </a:solidFill>
              </a:rPr>
              <a:t>MIR</a:t>
            </a:r>
            <a:r>
              <a:rPr lang="zh-CN" altLang="en-US" dirty="0" smtClean="0">
                <a:solidFill>
                  <a:srgbClr val="FF0000"/>
                </a:solidFill>
              </a:rPr>
              <a:t>和</a:t>
            </a:r>
            <a:r>
              <a:rPr lang="en-US" altLang="zh-CN" dirty="0" smtClean="0">
                <a:solidFill>
                  <a:srgbClr val="FF0000"/>
                </a:solidFill>
              </a:rPr>
              <a:t>ECEI</a:t>
            </a:r>
            <a:r>
              <a:rPr lang="zh-CN" altLang="en-US" dirty="0" smtClean="0">
                <a:solidFill>
                  <a:srgbClr val="FF0000"/>
                </a:solidFill>
              </a:rPr>
              <a:t>两个不同光斑尺寸的照明源，发现对入射角和接收角影响不大；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2     </a:t>
            </a:r>
            <a:r>
              <a:rPr lang="zh-CN" altLang="en-US" dirty="0" smtClean="0">
                <a:solidFill>
                  <a:srgbClr val="FF0000"/>
                </a:solidFill>
              </a:rPr>
              <a:t>天线接收方向与照明光的反射方向夹角较小；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86000" y="2048683"/>
            <a:ext cx="1801092" cy="3693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+mn-ea"/>
              </a:rPr>
              <a:t>反射面的束半径</a:t>
            </a:r>
            <a:endParaRPr lang="zh-CN" altLang="en-US" dirty="0">
              <a:latin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786255" y="2065829"/>
            <a:ext cx="2043545" cy="3693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+mn-ea"/>
              </a:rPr>
              <a:t>高斯光束束腰半径</a:t>
            </a:r>
            <a:endParaRPr lang="zh-CN" altLang="en-US" dirty="0">
              <a:latin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037618" y="2048683"/>
            <a:ext cx="2154382" cy="3693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+mn-ea"/>
              </a:rPr>
              <a:t>反射面到束腰距离</a:t>
            </a:r>
            <a:endParaRPr lang="zh-CN" altLang="en-US" dirty="0">
              <a:latin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62114" y="2917229"/>
            <a:ext cx="1241044" cy="31117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60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5" t="17437" r="12158" b="20404"/>
          <a:stretch/>
        </p:blipFill>
        <p:spPr>
          <a:xfrm>
            <a:off x="7989294" y="22891"/>
            <a:ext cx="4184073" cy="426288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6982" y="151680"/>
            <a:ext cx="7588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轮子</a:t>
            </a:r>
            <a:r>
              <a:rPr lang="zh-CN" altLang="en-US" sz="2400" dirty="0"/>
              <a:t>为</a:t>
            </a:r>
            <a:r>
              <a:rPr lang="zh-CN" altLang="en-US" sz="2400" dirty="0" smtClean="0"/>
              <a:t>反射面，</a:t>
            </a:r>
            <a:r>
              <a:rPr lang="en-US" altLang="zh-CN" sz="2400" dirty="0"/>
              <a:t>MIR</a:t>
            </a:r>
            <a:r>
              <a:rPr lang="zh-CN" altLang="en-US" sz="2400" dirty="0"/>
              <a:t>照明源：</a:t>
            </a:r>
            <a:r>
              <a:rPr lang="en-US" altLang="zh-CN" sz="2400" dirty="0"/>
              <a:t>WH=6.9mm,  WE=12.2mm</a:t>
            </a:r>
            <a:r>
              <a:rPr lang="en-US" altLang="zh-CN" sz="2400" dirty="0" smtClean="0"/>
              <a:t>.</a:t>
            </a:r>
            <a:endParaRPr lang="zh-CN" altLang="en-US" sz="2400" dirty="0"/>
          </a:p>
        </p:txBody>
      </p:sp>
      <p:pic>
        <p:nvPicPr>
          <p:cNvPr id="17" name="图片 16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1892"/>
            <a:ext cx="11349172" cy="1193284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2396836" y="6231102"/>
            <a:ext cx="900546" cy="374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368145" y="6253030"/>
            <a:ext cx="900546" cy="374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0280072" y="6231102"/>
            <a:ext cx="1069099" cy="374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0"/>
          <a:stretch/>
        </p:blipFill>
        <p:spPr>
          <a:xfrm>
            <a:off x="0" y="1035052"/>
            <a:ext cx="7685867" cy="317063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987637" y="977920"/>
            <a:ext cx="2698230" cy="330785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6968783" y="691596"/>
            <a:ext cx="1737596" cy="932589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18483" y="1027380"/>
            <a:ext cx="1241044" cy="31783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83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53" t="27677"/>
          <a:stretch/>
        </p:blipFill>
        <p:spPr>
          <a:xfrm>
            <a:off x="7928161" y="152400"/>
            <a:ext cx="2864530" cy="40593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57" b="48283"/>
          <a:stretch/>
        </p:blipFill>
        <p:spPr>
          <a:xfrm>
            <a:off x="1371600" y="1342492"/>
            <a:ext cx="3041073" cy="13985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7091" y="124691"/>
            <a:ext cx="58881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使用功率强的信号源，检波器示：</a:t>
            </a:r>
            <a:r>
              <a:rPr lang="en-US" altLang="zh-CN" sz="2400" dirty="0" smtClean="0"/>
              <a:t>~400mV</a:t>
            </a:r>
          </a:p>
          <a:p>
            <a:r>
              <a:rPr lang="en-US" altLang="zh-CN" sz="2400" dirty="0" err="1" smtClean="0"/>
              <a:t>Tx</a:t>
            </a:r>
            <a:r>
              <a:rPr lang="en-US" altLang="zh-CN" sz="2400" dirty="0" smtClean="0"/>
              <a:t>=15*6GHz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ALO=15.5</a:t>
            </a:r>
            <a:r>
              <a:rPr lang="zh-CN" altLang="en-US" sz="2400" dirty="0" smtClean="0"/>
              <a:t>*</a:t>
            </a:r>
            <a:r>
              <a:rPr lang="en-US" altLang="zh-CN" sz="2400" dirty="0" smtClean="0"/>
              <a:t>6GHz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1" t="27071" r="13636" b="39798"/>
          <a:stretch/>
        </p:blipFill>
        <p:spPr>
          <a:xfrm>
            <a:off x="4942506" y="1199110"/>
            <a:ext cx="2769126" cy="196596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4691" y="3602182"/>
            <a:ext cx="75869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钢板作为反射面：</a:t>
            </a:r>
            <a:r>
              <a:rPr lang="en-US" altLang="zh-CN" sz="2400" dirty="0" smtClean="0"/>
              <a:t>CH1,2,3,4,5,6,7,8,9</a:t>
            </a:r>
            <a:r>
              <a:rPr lang="zh-CN" altLang="en-US" sz="2400" dirty="0" smtClean="0"/>
              <a:t>存在明显信号；</a:t>
            </a:r>
            <a:endParaRPr lang="en-US" altLang="zh-CN" sz="2400" dirty="0" smtClean="0"/>
          </a:p>
          <a:p>
            <a:r>
              <a:rPr lang="zh-CN" altLang="en-US" sz="2400" dirty="0" smtClean="0"/>
              <a:t>撤钢板，轮子表面作为反射面：</a:t>
            </a:r>
            <a:r>
              <a:rPr lang="en-US" altLang="zh-CN" sz="2400" dirty="0" smtClean="0"/>
              <a:t>CH3,4,5,6,7,8(</a:t>
            </a:r>
            <a:r>
              <a:rPr lang="zh-CN" altLang="en-US" sz="2400" dirty="0"/>
              <a:t>弱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，存在明显信号；</a:t>
            </a:r>
            <a:endParaRPr lang="en-US" altLang="zh-CN" sz="2400" dirty="0" smtClean="0"/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前后移轮子</a:t>
            </a:r>
            <a:r>
              <a:rPr lang="en-US" altLang="zh-CN" sz="2400" dirty="0" smtClean="0">
                <a:solidFill>
                  <a:srgbClr val="FF0000"/>
                </a:solidFill>
              </a:rPr>
              <a:t>(</a:t>
            </a:r>
            <a:r>
              <a:rPr lang="zh-CN" altLang="en-US" sz="2400" dirty="0" smtClean="0">
                <a:solidFill>
                  <a:srgbClr val="FF0000"/>
                </a:solidFill>
              </a:rPr>
              <a:t>失焦，聚焦</a:t>
            </a:r>
            <a:r>
              <a:rPr lang="en-US" altLang="zh-CN" sz="2400" dirty="0" smtClean="0">
                <a:solidFill>
                  <a:srgbClr val="FF0000"/>
                </a:solidFill>
              </a:rPr>
              <a:t>)</a:t>
            </a:r>
            <a:r>
              <a:rPr lang="zh-CN" altLang="en-US" sz="2400" dirty="0" smtClean="0">
                <a:solidFill>
                  <a:srgbClr val="FF0000"/>
                </a:solidFill>
              </a:rPr>
              <a:t>，信号强度无明显变化。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41815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392659" y="1774080"/>
            <a:ext cx="4667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17</a:t>
            </a:r>
            <a:r>
              <a:rPr lang="zh-CN" altLang="en-US" sz="2800" dirty="0" smtClean="0">
                <a:solidFill>
                  <a:srgbClr val="FF0000"/>
                </a:solidFill>
              </a:rPr>
              <a:t>面</a:t>
            </a:r>
            <a:r>
              <a:rPr lang="zh-CN" altLang="en-US" sz="2800" dirty="0" smtClean="0">
                <a:solidFill>
                  <a:srgbClr val="FF0000"/>
                </a:solidFill>
              </a:rPr>
              <a:t>为</a:t>
            </a:r>
            <a:r>
              <a:rPr lang="zh-CN" altLang="en-US" sz="2800" dirty="0" smtClean="0">
                <a:solidFill>
                  <a:srgbClr val="FF0000"/>
                </a:solidFill>
              </a:rPr>
              <a:t>反射面的天线接收角：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6006" y="780365"/>
            <a:ext cx="4005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接收光路设置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75GHz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21201" y="272534"/>
            <a:ext cx="4112051" cy="76944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rgbClr val="000000"/>
                </a:solidFill>
                <a:latin typeface="宋体" panose="02010600030101010101" pitchFamily="2" charset="-122"/>
              </a:rPr>
              <a:t>调试的光路设置</a:t>
            </a:r>
            <a:r>
              <a:rPr lang="zh-CN" altLang="en-US" sz="4400" dirty="0"/>
              <a:t> </a:t>
            </a:r>
          </a:p>
        </p:txBody>
      </p:sp>
      <p:pic>
        <p:nvPicPr>
          <p:cNvPr id="12" name="图片 1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05" y="1470426"/>
            <a:ext cx="7247351" cy="5179755"/>
          </a:xfrm>
          <a:prstGeom prst="rect">
            <a:avLst/>
          </a:prstGeom>
        </p:spPr>
      </p:pic>
      <p:pic>
        <p:nvPicPr>
          <p:cNvPr id="13" name="图片 1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659" y="2297300"/>
            <a:ext cx="4549959" cy="434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57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0109" y="63391"/>
            <a:ext cx="6774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照明光路设置：选择</a:t>
            </a:r>
            <a:r>
              <a:rPr lang="en-US" altLang="zh-CN" sz="2800" dirty="0" smtClean="0">
                <a:solidFill>
                  <a:srgbClr val="FF0000"/>
                </a:solidFill>
              </a:rPr>
              <a:t>12</a:t>
            </a:r>
            <a:r>
              <a:rPr lang="zh-CN" altLang="en-US" sz="2800" dirty="0" smtClean="0">
                <a:solidFill>
                  <a:srgbClr val="FF0000"/>
                </a:solidFill>
              </a:rPr>
              <a:t>面为反射面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5" name="图片 4" descr="屏幕剪辑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9"/>
          <a:stretch/>
        </p:blipFill>
        <p:spPr>
          <a:xfrm>
            <a:off x="0" y="766721"/>
            <a:ext cx="7398327" cy="4156983"/>
          </a:xfrm>
          <a:prstGeom prst="rect">
            <a:avLst/>
          </a:prstGeom>
        </p:spPr>
      </p:pic>
      <p:pic>
        <p:nvPicPr>
          <p:cNvPr id="8" name="图片 7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25448"/>
            <a:ext cx="12033261" cy="1329337"/>
          </a:xfrm>
          <a:prstGeom prst="rect">
            <a:avLst/>
          </a:prstGeom>
        </p:spPr>
      </p:pic>
      <p:pic>
        <p:nvPicPr>
          <p:cNvPr id="9" name="图片 8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650" y="1642820"/>
            <a:ext cx="5322350" cy="263823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653144" y="5708418"/>
            <a:ext cx="900546" cy="374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936182" y="5722273"/>
            <a:ext cx="900546" cy="374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042074" y="5722273"/>
            <a:ext cx="991187" cy="374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855527" y="2396836"/>
            <a:ext cx="1288473" cy="124691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189017" y="6096694"/>
            <a:ext cx="2341419" cy="64633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照明光束在轮子上照亮的极向光斑半径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4644442" y="6235193"/>
            <a:ext cx="4499558" cy="3693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结论： 只有</a:t>
            </a:r>
            <a:r>
              <a:rPr lang="en-US" altLang="zh-CN" dirty="0" smtClean="0"/>
              <a:t>CH4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8</a:t>
            </a:r>
            <a:r>
              <a:rPr lang="zh-CN" altLang="en-US" dirty="0" smtClean="0"/>
              <a:t>、</a:t>
            </a:r>
            <a:r>
              <a:rPr lang="en-US" altLang="zh-CN" dirty="0" smtClean="0"/>
              <a:t>9</a:t>
            </a:r>
            <a:r>
              <a:rPr lang="zh-CN" altLang="en-US" dirty="0" smtClean="0"/>
              <a:t>能被照亮。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7193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65715" y="0"/>
            <a:ext cx="5229338" cy="76944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solidFill>
                  <a:srgbClr val="000000"/>
                </a:solidFill>
                <a:latin typeface="宋体" panose="02010600030101010101" pitchFamily="2" charset="-122"/>
              </a:rPr>
              <a:t>调试的光</a:t>
            </a:r>
            <a:r>
              <a:rPr lang="zh-CN" altLang="en-US" sz="4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路理论结果</a:t>
            </a:r>
            <a:r>
              <a:rPr lang="zh-CN" altLang="en-US" sz="4400" dirty="0" smtClean="0"/>
              <a:t> </a:t>
            </a:r>
            <a:endParaRPr lang="zh-CN" altLang="en-US" sz="4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1" t="3809" r="8856" b="5521"/>
          <a:stretch/>
        </p:blipFill>
        <p:spPr>
          <a:xfrm>
            <a:off x="98627" y="1468581"/>
            <a:ext cx="4972137" cy="443219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12618" y="1099249"/>
            <a:ext cx="341712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成像面曲率与轮子曲率比较</a:t>
            </a:r>
            <a:endParaRPr lang="zh-CN" altLang="en-US" dirty="0"/>
          </a:p>
        </p:txBody>
      </p:sp>
      <p:pic>
        <p:nvPicPr>
          <p:cNvPr id="12" name="图片 11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4" t="3020"/>
          <a:stretch/>
        </p:blipFill>
        <p:spPr>
          <a:xfrm>
            <a:off x="5292436" y="1801091"/>
            <a:ext cx="6966486" cy="2668911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292436" y="2826327"/>
            <a:ext cx="6539346" cy="105294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639497" y="5132320"/>
            <a:ext cx="4499558" cy="92333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只有</a:t>
            </a:r>
            <a:r>
              <a:rPr lang="en-US" altLang="zh-CN" dirty="0" smtClean="0"/>
              <a:t>CH4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8</a:t>
            </a:r>
            <a:r>
              <a:rPr lang="zh-CN" altLang="en-US" dirty="0" smtClean="0"/>
              <a:t>、</a:t>
            </a:r>
            <a:r>
              <a:rPr lang="en-US" altLang="zh-CN" dirty="0" smtClean="0"/>
              <a:t>9</a:t>
            </a:r>
            <a:r>
              <a:rPr lang="zh-CN" altLang="en-US" dirty="0" smtClean="0"/>
              <a:t>能被照亮，即若完全按照该光路设置实验，可能观测到信号的天线。。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342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65715" y="326962"/>
            <a:ext cx="5229338" cy="76944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调试</a:t>
            </a:r>
            <a:r>
              <a:rPr lang="zh-CN" altLang="en-US" sz="4400" dirty="0">
                <a:solidFill>
                  <a:srgbClr val="000000"/>
                </a:solidFill>
                <a:latin typeface="宋体" panose="02010600030101010101" pitchFamily="2" charset="-122"/>
              </a:rPr>
              <a:t>光</a:t>
            </a:r>
            <a:r>
              <a:rPr lang="zh-CN" altLang="en-US" sz="44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路的实验结果</a:t>
            </a:r>
            <a:r>
              <a:rPr lang="zh-CN" altLang="en-US" sz="4400" dirty="0" smtClean="0"/>
              <a:t> 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700371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6446</TotalTime>
  <Words>279</Words>
  <Application>Microsoft Office PowerPoint</Application>
  <PresentationFormat>宽屏</PresentationFormat>
  <Paragraphs>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宋体</vt:lpstr>
      <vt:lpstr>Arial</vt:lpstr>
      <vt:lpstr>Calibri</vt:lpstr>
      <vt:lpstr>Calibri Light</vt:lpstr>
      <vt:lpstr>Office 主题</vt:lpstr>
      <vt:lpstr>多普勒频移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  验</dc:title>
  <dc:creator>Windows 用户</dc:creator>
  <cp:lastModifiedBy>Windows 用户</cp:lastModifiedBy>
  <cp:revision>140</cp:revision>
  <dcterms:created xsi:type="dcterms:W3CDTF">2018-12-28T08:30:41Z</dcterms:created>
  <dcterms:modified xsi:type="dcterms:W3CDTF">2019-01-17T12:18:53Z</dcterms:modified>
</cp:coreProperties>
</file>