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4" r:id="rId9"/>
    <p:sldId id="265" r:id="rId10"/>
    <p:sldId id="266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57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𝐄</m:t>
                          </m:r>
                        </m:e>
                      </m:acc>
                      <m:r>
                        <a:rPr lang="en-US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hlinkClick r:id="" action="ppaction://noaction"/>
                            </a:rPr>
                            <m:t>𝑔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7495750" cy="3346127"/>
            <a:chOff x="3655542" y="1025188"/>
            <a:chExt cx="7495750" cy="334612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64682"/>
              <a:ext cx="7495750" cy="3106633"/>
              <a:chOff x="3655542" y="1264682"/>
              <a:chExt cx="7495750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7540809" y="1264682"/>
                <a:ext cx="3610483" cy="3106633"/>
                <a:chOff x="1256919" y="1368417"/>
                <a:chExt cx="3610483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56919" y="1368417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C84D1184-9819-B552-7420-C4625AA81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97751" y="2122535"/>
                  <a:ext cx="23011" cy="1318183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7535" y="2236206"/>
                <a:ext cx="513347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9D954D-16AC-942B-01AF-9E3C8CECD547}"/>
              </a:ext>
            </a:extLst>
          </p:cNvPr>
          <p:cNvGrpSpPr/>
          <p:nvPr/>
        </p:nvGrpSpPr>
        <p:grpSpPr>
          <a:xfrm>
            <a:off x="319637" y="407735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27D86B1-14E3-7CCB-C703-9D6D93907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2BFBAF-97A6-A65A-319C-F3A73B066761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ECB99D-3099-1FDA-0265-8DF4CAE85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BCB1F6D-81A4-361A-4855-8F1C0DEFFD2D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43022F0-40D6-32DA-BEA3-CEBEBB5526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997" b="5296"/>
          <a:stretch/>
        </p:blipFill>
        <p:spPr bwMode="auto">
          <a:xfrm>
            <a:off x="5185235" y="0"/>
            <a:ext cx="5942965" cy="6702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2E7CFD-E739-850F-164F-4E60874CD3DB}"/>
              </a:ext>
            </a:extLst>
          </p:cNvPr>
          <p:cNvSpPr txBox="1"/>
          <p:nvPr/>
        </p:nvSpPr>
        <p:spPr>
          <a:xfrm>
            <a:off x="885825" y="3663482"/>
            <a:ext cx="3657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E0 = 100 mV/m, </a:t>
            </a:r>
          </a:p>
          <a:p>
            <a:r>
              <a:rPr lang="en-US" dirty="0" err="1"/>
              <a:t>Ew</a:t>
            </a:r>
            <a:r>
              <a:rPr lang="en-US" dirty="0"/>
              <a:t> = 0.3 V/m, </a:t>
            </a:r>
          </a:p>
          <a:p>
            <a:r>
              <a:rPr lang="en-US" dirty="0"/>
              <a:t>B0 = 64 </a:t>
            </a:r>
            <a:r>
              <a:rPr lang="en-US" dirty="0" err="1"/>
              <a:t>nT</a:t>
            </a:r>
            <a:r>
              <a:rPr lang="en-US" dirty="0"/>
              <a:t>,</a:t>
            </a:r>
          </a:p>
          <a:p>
            <a:r>
              <a:rPr lang="el-GR" dirty="0"/>
              <a:t>ω/Ω = -0.845, </a:t>
            </a:r>
            <a:endParaRPr lang="en-US" dirty="0"/>
          </a:p>
          <a:p>
            <a:r>
              <a:rPr lang="en-US" dirty="0"/>
              <a:t>g = -1,</a:t>
            </a:r>
          </a:p>
          <a:p>
            <a:r>
              <a:rPr lang="en-US" dirty="0"/>
              <a:t> initial </a:t>
            </a:r>
            <a:r>
              <a:rPr lang="el-GR" dirty="0"/>
              <a:t>β_</a:t>
            </a:r>
            <a:r>
              <a:rPr lang="en-US" dirty="0"/>
              <a:t>z= 0.2 and </a:t>
            </a:r>
            <a:r>
              <a:rPr lang="el-GR" dirty="0"/>
              <a:t>β_⊥=0, ϕ0= 0,</a:t>
            </a:r>
            <a:endParaRPr lang="en-US" dirty="0"/>
          </a:p>
          <a:p>
            <a:r>
              <a:rPr lang="el-GR" dirty="0"/>
              <a:t> </a:t>
            </a:r>
            <a:r>
              <a:rPr lang="en-US" dirty="0"/>
              <a:t>n = 5.4655. </a:t>
            </a:r>
          </a:p>
        </p:txBody>
      </p:sp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68A1C-9434-ED4D-0CB6-C4828AD828F6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Trapping threshold</a:t>
            </a:r>
            <a:r>
              <a:rPr lang="zh-CN" altLang="en-US" dirty="0"/>
              <a:t>：</a:t>
            </a:r>
            <a:r>
              <a:rPr lang="en-US" altLang="zh-CN" dirty="0"/>
              <a:t>Anomalous doppler effect 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2539AB2-4BD8-4B0D-BB1A-E4B0FE2F7308}"/>
              </a:ext>
            </a:extLst>
          </p:cNvPr>
          <p:cNvGrpSpPr/>
          <p:nvPr/>
        </p:nvGrpSpPr>
        <p:grpSpPr>
          <a:xfrm>
            <a:off x="266699" y="1025265"/>
            <a:ext cx="11327021" cy="3005742"/>
            <a:chOff x="-1064559" y="1932525"/>
            <a:chExt cx="11228294" cy="300574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/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ς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∫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⊥0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/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𝜍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/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indent="182880">
                    <a:lnSpc>
                      <a:spcPct val="107000"/>
                    </a:lnSpc>
                    <a:spcAft>
                      <a:spcPts val="800"/>
                    </a:spcAft>
                    <a:buNone/>
                  </a:pPr>
                  <a:r>
                    <a:rPr lang="en-US" sz="1800" dirty="0">
                      <a:solidFill>
                        <a:srgbClr val="000000"/>
                      </a:solidFill>
                      <a:effectLst/>
                      <a:latin typeface="Calibri" panose="020F0502020204030204" pitchFamily="34" charset="0"/>
                      <a:ea typeface="等线" panose="02010600030101010101" pitchFamily="2" charset="-122"/>
                      <a:cs typeface="Times New Roman" panose="02020603050405020304" pitchFamily="18" charset="0"/>
                    </a:rPr>
                    <a:t>Where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ωn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⊥0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a14:m>
                  <a:endPara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blipFill>
                  <a:blip r:embed="rId4"/>
                  <a:stretch>
                    <a:fillRect b="-1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/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Initial condition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⊥0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dirty="0"/>
                </a:p>
                <a:p>
                  <a:r>
                    <a:rPr lang="en-US" dirty="0"/>
                    <a:t>Domination coefficient :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ς</m:t>
                              </m:r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blipFill>
                  <a:blip r:embed="rId5"/>
                  <a:stretch>
                    <a:fillRect l="-771" t="-4615" b="-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3FCB421-95E1-0FE9-CC53-D6C429E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409" y="1989056"/>
            <a:ext cx="457849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ACEB75-4889-4E65-84CA-4A767B90239B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Quantum benchmark</a:t>
            </a:r>
            <a:r>
              <a:rPr lang="zh-CN" altLang="en-US" dirty="0"/>
              <a:t>：</a:t>
            </a:r>
            <a:r>
              <a:rPr lang="en-US" dirty="0"/>
              <a:t> energy transfer ratio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ACD6C1-9438-41D9-8AA3-27D61D0291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479629" y="739695"/>
            <a:ext cx="5829301" cy="42866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/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p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  <a:blipFill>
                <a:blip r:embed="rId3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/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/>
              <p:nvPr/>
            </p:nvSpPr>
            <p:spPr>
              <a:xfrm>
                <a:off x="715175" y="4056501"/>
                <a:ext cx="1588512" cy="6271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n</m:t>
                          </m:r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75" y="4056501"/>
                <a:ext cx="1588512" cy="62715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/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CFC0071-7727-4E46-B75B-9C352CD7F6CF}"/>
              </a:ext>
            </a:extLst>
          </p:cNvPr>
          <p:cNvSpPr txBox="1"/>
          <p:nvPr/>
        </p:nvSpPr>
        <p:spPr>
          <a:xfrm>
            <a:off x="748069" y="860747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F8CF94-9CD2-4663-BEE0-68BBE9743C41}"/>
              </a:ext>
            </a:extLst>
          </p:cNvPr>
          <p:cNvSpPr txBox="1"/>
          <p:nvPr/>
        </p:nvSpPr>
        <p:spPr>
          <a:xfrm>
            <a:off x="712892" y="3399316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results</a:t>
            </a:r>
          </a:p>
        </p:txBody>
      </p:sp>
    </p:spTree>
    <p:extLst>
      <p:ext uri="{BB962C8B-B14F-4D97-AF65-F5344CB8AC3E}">
        <p14:creationId xmlns:p14="http://schemas.microsoft.com/office/powerpoint/2010/main" val="2526376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EF4FD3-30DB-4607-B8AA-5B5E1BA5EFFF}"/>
              </a:ext>
            </a:extLst>
          </p:cNvPr>
          <p:cNvSpPr txBox="1"/>
          <p:nvPr/>
        </p:nvSpPr>
        <p:spPr>
          <a:xfrm>
            <a:off x="259975" y="977153"/>
            <a:ext cx="8068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Discussion 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Trapping phenomenon explanation from momentum conservation and angular conservation </a:t>
            </a:r>
          </a:p>
          <a:p>
            <a:pPr marL="342900" indent="-342900">
              <a:buAutoNum type="arabicPeriod"/>
            </a:pPr>
            <a:r>
              <a:rPr lang="en-US" dirty="0"/>
              <a:t>Potential application in plasma heating and runaway suppression</a:t>
            </a:r>
          </a:p>
          <a:p>
            <a:pPr marL="342900" indent="-342900">
              <a:buAutoNum type="arabicPeriod"/>
            </a:pPr>
            <a:r>
              <a:rPr lang="en-US" dirty="0"/>
              <a:t>Space Plasma Dynamics(particle acceleration, precipitation)</a:t>
            </a:r>
          </a:p>
        </p:txBody>
      </p:sp>
    </p:spTree>
    <p:extLst>
      <p:ext uri="{BB962C8B-B14F-4D97-AF65-F5344CB8AC3E}">
        <p14:creationId xmlns:p14="http://schemas.microsoft.com/office/powerpoint/2010/main" val="107111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</a:t>
            </a:r>
            <a:r>
              <a:rPr lang="de-DE"/>
              <a:t>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1448</TotalTime>
  <Words>518</Words>
  <Application>Microsoft Office PowerPoint</Application>
  <PresentationFormat>Widescreen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等线</vt:lpstr>
      <vt:lpstr>等线</vt:lpstr>
      <vt:lpstr>Arial</vt:lpstr>
      <vt:lpstr>Calibri</vt:lpstr>
      <vt:lpstr>Cambria Math</vt:lpstr>
      <vt:lpstr>Times New Roman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important theory about auto resonance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Trapping analysis of a magnetic electron by a circularly polarized electromagnetic wave in static electric field </dc:title>
  <dc:creator>Xinhang Xu</dc:creator>
  <cp:lastModifiedBy>Xinhang Xu</cp:lastModifiedBy>
  <cp:revision>13</cp:revision>
  <dcterms:created xsi:type="dcterms:W3CDTF">2025-12-01T07:33:48Z</dcterms:created>
  <dcterms:modified xsi:type="dcterms:W3CDTF">2025-12-05T02:20:39Z</dcterms:modified>
</cp:coreProperties>
</file>