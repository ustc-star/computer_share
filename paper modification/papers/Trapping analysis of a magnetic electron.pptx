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  <p:sldId id="261" r:id="rId6"/>
    <p:sldId id="262" r:id="rId7"/>
    <p:sldId id="263" r:id="rId8"/>
    <p:sldId id="264" r:id="rId9"/>
    <p:sldId id="265" r:id="rId10"/>
    <p:sldId id="266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81" d="100"/>
          <a:sy n="81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C7FB-829E-703B-FA87-3BFBB04D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57BE-5E20-3275-7050-CBCD56C43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48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Acceleration mechanisms </a:t>
            </a:r>
          </a:p>
          <a:p>
            <a:r>
              <a:rPr lang="en-US" dirty="0" err="1"/>
              <a:t>Autoresonance</a:t>
            </a:r>
            <a:endParaRPr lang="en-US" dirty="0"/>
          </a:p>
          <a:p>
            <a:r>
              <a:rPr lang="en-US" dirty="0" err="1"/>
              <a:t>Betatron</a:t>
            </a:r>
            <a:r>
              <a:rPr lang="en-US" dirty="0"/>
              <a:t> resonance</a:t>
            </a:r>
          </a:p>
          <a:p>
            <a:r>
              <a:rPr lang="en-US" dirty="0"/>
              <a:t>Ponderomotive-force-driven acceleration</a:t>
            </a:r>
          </a:p>
          <a:p>
            <a:r>
              <a:rPr lang="en-US" dirty="0"/>
              <a:t>Landau resonant</a:t>
            </a:r>
          </a:p>
          <a:p>
            <a:pPr marL="0" indent="0">
              <a:buNone/>
            </a:pPr>
            <a:r>
              <a:rPr lang="en-US" dirty="0"/>
              <a:t>Trapping  mechanisms </a:t>
            </a:r>
          </a:p>
          <a:p>
            <a:r>
              <a:rPr lang="en-US" dirty="0"/>
              <a:t>optical tweezers </a:t>
            </a:r>
          </a:p>
          <a:p>
            <a:r>
              <a:rPr lang="en-US" dirty="0"/>
              <a:t>ponderomotive potential wells (generated by the spatial interference patterns of laser beats 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6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𝐄</m:t>
                          </m:r>
                        </m:e>
                      </m:acc>
                      <m:r>
                        <a:rPr lang="en-US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hlinkClick r:id="" action="ppaction://noaction"/>
                            </a:rPr>
                            <m:t>𝑔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 ŷ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ς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𝜕𝜓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𝜍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ς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44116" y="4367965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4290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=20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800" dirty="0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zh-CN" altLang="en-US" dirty="0"/>
                  <a:t>左旋波</a:t>
                </a:r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blipFill>
                <a:blip r:embed="rId2"/>
                <a:stretch>
                  <a:fillRect l="-1307" t="-3289" r="-2778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6378EFE-888A-8685-E1B9-96C12182EB07}"/>
              </a:ext>
            </a:extLst>
          </p:cNvPr>
          <p:cNvSpPr txBox="1"/>
          <p:nvPr/>
        </p:nvSpPr>
        <p:spPr>
          <a:xfrm>
            <a:off x="187393" y="904247"/>
            <a:ext cx="284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Unstrapping situation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CFD5EF-7B66-EA15-39D0-C168516540EB}"/>
              </a:ext>
            </a:extLst>
          </p:cNvPr>
          <p:cNvGrpSpPr/>
          <p:nvPr/>
        </p:nvGrpSpPr>
        <p:grpSpPr>
          <a:xfrm>
            <a:off x="4831551" y="904247"/>
            <a:ext cx="6527058" cy="5899461"/>
            <a:chOff x="4687915" y="1021042"/>
            <a:chExt cx="6527058" cy="589946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9ABA76B-0D12-F9A4-1B3C-243AACAD84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866" t="4527" r="6122"/>
            <a:stretch/>
          </p:blipFill>
          <p:spPr bwMode="auto">
            <a:xfrm>
              <a:off x="4687915" y="1021042"/>
              <a:ext cx="5900837" cy="589946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510EF89-4225-7CE4-8D99-779ADC2DD57C}"/>
                </a:ext>
              </a:extLst>
            </p:cNvPr>
            <p:cNvGrpSpPr/>
            <p:nvPr/>
          </p:nvGrpSpPr>
          <p:grpSpPr>
            <a:xfrm>
              <a:off x="10338529" y="4919831"/>
              <a:ext cx="876444" cy="849562"/>
              <a:chOff x="10253688" y="4910404"/>
              <a:chExt cx="876444" cy="84956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EE8EB5-AA4D-2085-ED88-816151C17834}"/>
                  </a:ext>
                </a:extLst>
              </p:cNvPr>
              <p:cNvSpPr txBox="1"/>
              <p:nvPr/>
            </p:nvSpPr>
            <p:spPr>
              <a:xfrm>
                <a:off x="10503911" y="4910404"/>
                <a:ext cx="54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</a:t>
                </a:r>
                <a:r>
                  <a:rPr lang="en-US" baseline="-25000" dirty="0"/>
                  <a:t>0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698A2788-56C2-B870-ED6A-43D5E74898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53688" y="5069947"/>
                <a:ext cx="250223" cy="338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/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aseline="-25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49438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E3DBADC5-00E4-0049-FF1C-0909017DC4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72216" y="5316702"/>
                <a:ext cx="386600" cy="2134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8DD7B9C-443A-7987-1DA3-0C9E51C66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45" y="1396763"/>
            <a:ext cx="3018875" cy="31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B2AB36-0E56-48E4-9DE6-88493540E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505" y="411101"/>
            <a:ext cx="6438420" cy="6353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/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Same as Fig. (1) except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= 22 V/m.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blipFill>
                <a:blip r:embed="rId3"/>
                <a:stretch>
                  <a:fillRect l="-1103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DAABDFF-5EC2-9233-A4A2-07F08FCEB365}"/>
              </a:ext>
            </a:extLst>
          </p:cNvPr>
          <p:cNvSpPr txBox="1"/>
          <p:nvPr/>
        </p:nvSpPr>
        <p:spPr>
          <a:xfrm>
            <a:off x="664067" y="1375639"/>
            <a:ext cx="28446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Trapping situation</a:t>
            </a:r>
            <a:endParaRPr lang="en-US" sz="20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90BA1B8-5309-7D53-F2D8-59871A069A14}"/>
              </a:ext>
            </a:extLst>
          </p:cNvPr>
          <p:cNvSpPr txBox="1">
            <a:spLocks/>
          </p:cNvSpPr>
          <p:nvPr/>
        </p:nvSpPr>
        <p:spPr>
          <a:xfrm>
            <a:off x="160256" y="93233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Trapping in anomalous doppler resonance (g = 1)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96906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4AF76-4263-A964-EB98-A01A9F09A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91372"/>
            <a:ext cx="6187201" cy="20761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633BDAB-B46B-4E1C-A68B-9EEB11589FAD}"/>
              </a:ext>
            </a:extLst>
          </p:cNvPr>
          <p:cNvGrpSpPr/>
          <p:nvPr/>
        </p:nvGrpSpPr>
        <p:grpSpPr>
          <a:xfrm>
            <a:off x="4412339" y="980632"/>
            <a:ext cx="7495750" cy="3346127"/>
            <a:chOff x="3655542" y="1025188"/>
            <a:chExt cx="7495750" cy="334612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29DB891-0ADB-4FCB-B3FB-A3FF41D53A30}"/>
                </a:ext>
              </a:extLst>
            </p:cNvPr>
            <p:cNvGrpSpPr/>
            <p:nvPr/>
          </p:nvGrpSpPr>
          <p:grpSpPr>
            <a:xfrm>
              <a:off x="3655542" y="1264682"/>
              <a:ext cx="7495750" cy="3106633"/>
              <a:chOff x="3655542" y="1264682"/>
              <a:chExt cx="7495750" cy="310663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9195A3F-98C5-50D0-245E-6EED24A1F1CE}"/>
                  </a:ext>
                </a:extLst>
              </p:cNvPr>
              <p:cNvGrpSpPr/>
              <p:nvPr/>
            </p:nvGrpSpPr>
            <p:grpSpPr>
              <a:xfrm>
                <a:off x="7540809" y="1264682"/>
                <a:ext cx="3610483" cy="3106633"/>
                <a:chOff x="1256919" y="1368417"/>
                <a:chExt cx="3610483" cy="3106633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D180345-15C3-0C8C-1E46-99D8CD8212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56919" y="1368417"/>
                  <a:ext cx="3018875" cy="3106633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795C48A-A1E6-192E-00B3-3E9FB3803EFC}"/>
                    </a:ext>
                  </a:extLst>
                </p:cNvPr>
                <p:cNvSpPr/>
                <p:nvPr/>
              </p:nvSpPr>
              <p:spPr>
                <a:xfrm>
                  <a:off x="3389260" y="2028825"/>
                  <a:ext cx="240384" cy="15908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C84D1184-9819-B552-7420-C4625AA81A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97751" y="2122535"/>
                  <a:ext cx="23011" cy="1318183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4730" y="2263881"/>
                <a:ext cx="513347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/>
              <p:nvPr/>
            </p:nvCxnSpPr>
            <p:spPr>
              <a:xfrm>
                <a:off x="3655542" y="2062576"/>
                <a:ext cx="154305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751302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886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381970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07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4AD39A0-BCAA-19BC-714D-E48F373ED305}"/>
              </a:ext>
            </a:extLst>
          </p:cNvPr>
          <p:cNvSpPr txBox="1"/>
          <p:nvPr/>
        </p:nvSpPr>
        <p:spPr>
          <a:xfrm>
            <a:off x="1293905" y="4281522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TDS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/c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 -0.0333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8A970-1145-0953-9A91-1560650FA7A7}"/>
              </a:ext>
            </a:extLst>
          </p:cNvPr>
          <p:cNvSpPr txBox="1"/>
          <p:nvPr/>
        </p:nvSpPr>
        <p:spPr>
          <a:xfrm>
            <a:off x="1293905" y="4692257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 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28DC3F-1053-B6FF-3306-D89BF7B53F5A}"/>
              </a:ext>
            </a:extLst>
          </p:cNvPr>
          <p:cNvSpPr txBox="1"/>
          <p:nvPr/>
        </p:nvSpPr>
        <p:spPr>
          <a:xfrm>
            <a:off x="1293905" y="5133951"/>
            <a:ext cx="176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100 mV/m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72AA2-456C-5824-EFCC-F375D2193374}"/>
              </a:ext>
            </a:extLst>
          </p:cNvPr>
          <p:cNvSpPr txBox="1"/>
          <p:nvPr/>
        </p:nvSpPr>
        <p:spPr>
          <a:xfrm>
            <a:off x="1293905" y="5595402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0.15 cm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31EC93-D96D-BAD8-30BD-F504DE32D9E7}"/>
              </a:ext>
            </a:extLst>
          </p:cNvPr>
          <p:cNvSpPr txBox="1"/>
          <p:nvPr/>
        </p:nvSpPr>
        <p:spPr>
          <a:xfrm>
            <a:off x="6707394" y="5005437"/>
            <a:ext cx="4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NDE resonant speed = V</a:t>
            </a:r>
            <a:r>
              <a:rPr lang="en-US" baseline="-25000" dirty="0"/>
              <a:t>TDS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73306-1BE6-40DB-26B9-DFBA6B07CE46}"/>
              </a:ext>
            </a:extLst>
          </p:cNvPr>
          <p:cNvSpPr txBox="1"/>
          <p:nvPr/>
        </p:nvSpPr>
        <p:spPr>
          <a:xfrm>
            <a:off x="4497755" y="4745717"/>
            <a:ext cx="1554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ω/Ω = −0.845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FFA01-B524-0C17-81BE-1DAA9515460B}"/>
              </a:ext>
            </a:extLst>
          </p:cNvPr>
          <p:cNvSpPr txBox="1"/>
          <p:nvPr/>
        </p:nvSpPr>
        <p:spPr>
          <a:xfrm>
            <a:off x="3272414" y="5175831"/>
            <a:ext cx="2928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refractive index n = 5.4655 </a:t>
            </a:r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260EDF4-3D7D-6494-ADEE-99F065BAF3F2}"/>
              </a:ext>
            </a:extLst>
          </p:cNvPr>
          <p:cNvSpPr/>
          <p:nvPr/>
        </p:nvSpPr>
        <p:spPr>
          <a:xfrm>
            <a:off x="6301139" y="5056092"/>
            <a:ext cx="322284" cy="24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D069CF6-60F8-A831-A488-474F7AD5728C}"/>
              </a:ext>
            </a:extLst>
          </p:cNvPr>
          <p:cNvSpPr/>
          <p:nvPr/>
        </p:nvSpPr>
        <p:spPr>
          <a:xfrm>
            <a:off x="5980205" y="4876923"/>
            <a:ext cx="193435" cy="6263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928559" y="630410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76A3B7-F873-499C-AFF0-24B656663BB6}"/>
              </a:ext>
            </a:extLst>
          </p:cNvPr>
          <p:cNvSpPr/>
          <p:nvPr/>
        </p:nvSpPr>
        <p:spPr>
          <a:xfrm>
            <a:off x="1371600" y="2753862"/>
            <a:ext cx="2438400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40E229-24F7-408E-B4EF-3FA8DC553928}"/>
              </a:ext>
            </a:extLst>
          </p:cNvPr>
          <p:cNvSpPr/>
          <p:nvPr/>
        </p:nvSpPr>
        <p:spPr>
          <a:xfrm>
            <a:off x="5113756" y="2680633"/>
            <a:ext cx="1072571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2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9D954D-16AC-942B-01AF-9E3C8CECD547}"/>
              </a:ext>
            </a:extLst>
          </p:cNvPr>
          <p:cNvGrpSpPr/>
          <p:nvPr/>
        </p:nvGrpSpPr>
        <p:grpSpPr>
          <a:xfrm>
            <a:off x="319637" y="407735"/>
            <a:ext cx="3018875" cy="3106633"/>
            <a:chOff x="1192404" y="1360627"/>
            <a:chExt cx="3018875" cy="310663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27D86B1-14E3-7CCB-C703-9D6D93907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2404" y="1360627"/>
              <a:ext cx="3018875" cy="3106633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E2BFBAF-97A6-A65A-319C-F3A73B066761}"/>
                </a:ext>
              </a:extLst>
            </p:cNvPr>
            <p:cNvSpPr/>
            <p:nvPr/>
          </p:nvSpPr>
          <p:spPr>
            <a:xfrm>
              <a:off x="3389260" y="2028825"/>
              <a:ext cx="240384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ECB99D-3099-1FDA-0265-8DF4CAE851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9452" y="2028825"/>
              <a:ext cx="0" cy="1514475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BCB1F6D-81A4-361A-4855-8F1C0DEFFD2D}"/>
                    </a:ext>
                  </a:extLst>
                </p:cNvPr>
                <p:cNvSpPr txBox="1"/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43022F0-40D6-32DA-BEA3-CEBEBB5526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997" b="5296"/>
          <a:stretch/>
        </p:blipFill>
        <p:spPr bwMode="auto">
          <a:xfrm>
            <a:off x="5185235" y="0"/>
            <a:ext cx="5942965" cy="6702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2E7CFD-E739-850F-164F-4E60874CD3DB}"/>
              </a:ext>
            </a:extLst>
          </p:cNvPr>
          <p:cNvSpPr txBox="1"/>
          <p:nvPr/>
        </p:nvSpPr>
        <p:spPr>
          <a:xfrm>
            <a:off x="885825" y="3663482"/>
            <a:ext cx="3657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E0 = 100 mV/m, </a:t>
            </a:r>
          </a:p>
          <a:p>
            <a:r>
              <a:rPr lang="en-US" dirty="0" err="1"/>
              <a:t>Ew</a:t>
            </a:r>
            <a:r>
              <a:rPr lang="en-US" dirty="0"/>
              <a:t> = 0.3 V/m, </a:t>
            </a:r>
          </a:p>
          <a:p>
            <a:r>
              <a:rPr lang="en-US" dirty="0"/>
              <a:t>B0 = 64 </a:t>
            </a:r>
            <a:r>
              <a:rPr lang="en-US" dirty="0" err="1"/>
              <a:t>nT</a:t>
            </a:r>
            <a:r>
              <a:rPr lang="en-US" dirty="0"/>
              <a:t>,</a:t>
            </a:r>
          </a:p>
          <a:p>
            <a:r>
              <a:rPr lang="el-GR" dirty="0"/>
              <a:t>ω/Ω = -0.845, </a:t>
            </a:r>
            <a:endParaRPr lang="en-US" dirty="0"/>
          </a:p>
          <a:p>
            <a:r>
              <a:rPr lang="en-US" dirty="0"/>
              <a:t>g = -1,</a:t>
            </a:r>
          </a:p>
          <a:p>
            <a:r>
              <a:rPr lang="en-US" dirty="0"/>
              <a:t> initial </a:t>
            </a:r>
            <a:r>
              <a:rPr lang="el-GR" dirty="0"/>
              <a:t>β_</a:t>
            </a:r>
            <a:r>
              <a:rPr lang="en-US" dirty="0"/>
              <a:t>z= 0.2 and </a:t>
            </a:r>
            <a:r>
              <a:rPr lang="el-GR" dirty="0"/>
              <a:t>β_⊥=0, ϕ0= 0,</a:t>
            </a:r>
            <a:endParaRPr lang="en-US" dirty="0"/>
          </a:p>
          <a:p>
            <a:r>
              <a:rPr lang="el-GR" dirty="0"/>
              <a:t> </a:t>
            </a:r>
            <a:r>
              <a:rPr lang="en-US" dirty="0"/>
              <a:t>n = 5.4655. </a:t>
            </a:r>
          </a:p>
        </p:txBody>
      </p:sp>
    </p:spTree>
    <p:extLst>
      <p:ext uri="{BB962C8B-B14F-4D97-AF65-F5344CB8AC3E}">
        <p14:creationId xmlns:p14="http://schemas.microsoft.com/office/powerpoint/2010/main" val="415507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C68A1C-9434-ED4D-0CB6-C4828AD828F6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Trapping threshold</a:t>
            </a:r>
            <a:r>
              <a:rPr lang="zh-CN" altLang="en-US" dirty="0"/>
              <a:t>：</a:t>
            </a:r>
            <a:r>
              <a:rPr lang="en-US" altLang="zh-CN" dirty="0"/>
              <a:t>Anomalous doppler effect 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2539AB2-4BD8-4B0D-BB1A-E4B0FE2F7308}"/>
              </a:ext>
            </a:extLst>
          </p:cNvPr>
          <p:cNvGrpSpPr/>
          <p:nvPr/>
        </p:nvGrpSpPr>
        <p:grpSpPr>
          <a:xfrm>
            <a:off x="266699" y="1025265"/>
            <a:ext cx="11327021" cy="3005742"/>
            <a:chOff x="-1064559" y="1932525"/>
            <a:chExt cx="11228294" cy="30057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/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ς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∫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⊥0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/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𝑐𝑜𝑠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𝜍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/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indent="182880">
                    <a:lnSpc>
                      <a:spcPct val="107000"/>
                    </a:lnSpc>
                    <a:spcAft>
                      <a:spcPts val="800"/>
                    </a:spcAft>
                    <a:buNone/>
                  </a:pPr>
                  <a:r>
                    <a:rPr lang="en-US" sz="1800" dirty="0">
                      <a:solidFill>
                        <a:srgbClr val="000000"/>
                      </a:solidFill>
                      <a:effectLst/>
                      <a:latin typeface="Calibri" panose="020F0502020204030204" pitchFamily="34" charset="0"/>
                      <a:ea typeface="等线" panose="02010600030101010101" pitchFamily="2" charset="-122"/>
                      <a:cs typeface="Times New Roman" panose="02020603050405020304" pitchFamily="18" charset="0"/>
                    </a:rPr>
                    <a:t>Where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ωn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⊥0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b>
                          </m:sSub>
                        </m:den>
                      </m:f>
                    </m:oMath>
                  </a14:m>
                  <a:endPara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blipFill>
                  <a:blip r:embed="rId4"/>
                  <a:stretch>
                    <a:fillRect b="-1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/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Initial condition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⊥0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dirty="0"/>
                </a:p>
                <a:p>
                  <a:r>
                    <a:rPr lang="en-US" dirty="0"/>
                    <a:t>Domination coefficient :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ς</m:t>
                              </m:r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𝜅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blipFill>
                  <a:blip r:embed="rId5"/>
                  <a:stretch>
                    <a:fillRect l="-771" t="-4615" b="-7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3FCB421-95E1-0FE9-CC53-D6C429E9C3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409" y="1989056"/>
            <a:ext cx="457849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4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ACEB75-4889-4E65-84CA-4A767B90239B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Quantum benchmark</a:t>
            </a:r>
            <a:r>
              <a:rPr lang="zh-CN" altLang="en-US" dirty="0"/>
              <a:t>：</a:t>
            </a:r>
            <a:r>
              <a:rPr lang="en-US" dirty="0"/>
              <a:t> energy transfer ratio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ACD6C1-9438-41D9-8AA3-27D61D0291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614100" y="650048"/>
            <a:ext cx="5829301" cy="42866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/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p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𝐸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  <a:blipFill>
                <a:blip r:embed="rId3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/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/>
              <p:nvPr/>
            </p:nvSpPr>
            <p:spPr>
              <a:xfrm>
                <a:off x="715175" y="4056501"/>
                <a:ext cx="3083473" cy="67460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n</m:t>
                          </m:r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v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75" y="4056501"/>
                <a:ext cx="3083473" cy="6746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/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CFC0071-7727-4E46-B75B-9C352CD7F6CF}"/>
              </a:ext>
            </a:extLst>
          </p:cNvPr>
          <p:cNvSpPr txBox="1"/>
          <p:nvPr/>
        </p:nvSpPr>
        <p:spPr>
          <a:xfrm>
            <a:off x="748069" y="860747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F8CF94-9CD2-4663-BEE0-68BBE9743C41}"/>
              </a:ext>
            </a:extLst>
          </p:cNvPr>
          <p:cNvSpPr txBox="1"/>
          <p:nvPr/>
        </p:nvSpPr>
        <p:spPr>
          <a:xfrm>
            <a:off x="712892" y="3399316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results</a:t>
            </a:r>
          </a:p>
        </p:txBody>
      </p:sp>
    </p:spTree>
    <p:extLst>
      <p:ext uri="{BB962C8B-B14F-4D97-AF65-F5344CB8AC3E}">
        <p14:creationId xmlns:p14="http://schemas.microsoft.com/office/powerpoint/2010/main" val="2526376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EF4FD3-30DB-4607-B8AA-5B5E1BA5EFFF}"/>
              </a:ext>
            </a:extLst>
          </p:cNvPr>
          <p:cNvSpPr txBox="1"/>
          <p:nvPr/>
        </p:nvSpPr>
        <p:spPr>
          <a:xfrm>
            <a:off x="259975" y="977153"/>
            <a:ext cx="80682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Discussion 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Trapping phenomenon explanation from momentum conservation and angular conservation </a:t>
            </a:r>
          </a:p>
          <a:p>
            <a:pPr marL="342900" indent="-342900">
              <a:buAutoNum type="arabicPeriod"/>
            </a:pPr>
            <a:r>
              <a:rPr lang="en-US" dirty="0"/>
              <a:t>Potential application in plasma heating and runaway suppression</a:t>
            </a:r>
          </a:p>
          <a:p>
            <a:pPr marL="342900" indent="-342900">
              <a:buAutoNum type="arabicPeriod"/>
            </a:pPr>
            <a:r>
              <a:rPr lang="en-US" dirty="0"/>
              <a:t>Space Plasma Dynamics(particle acceleration, precipitation)</a:t>
            </a:r>
          </a:p>
        </p:txBody>
      </p:sp>
    </p:spTree>
    <p:extLst>
      <p:ext uri="{BB962C8B-B14F-4D97-AF65-F5344CB8AC3E}">
        <p14:creationId xmlns:p14="http://schemas.microsoft.com/office/powerpoint/2010/main" val="107111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A2528-A28E-C137-9FAE-78C6CD95C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theory about auto resonance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9083-93C4-DE0B-ABEF-77AB91C7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Resonances, pendulum system , Page 294</a:t>
            </a:r>
          </a:p>
          <a:p>
            <a:r>
              <a:rPr lang="de-DE" dirty="0"/>
              <a:t>J. Fajans, L. Friedland, Am. J. Phys. </a:t>
            </a:r>
            <a:r>
              <a:rPr lang="de-DE"/>
              <a:t>69, 1096 (2001)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1588</TotalTime>
  <Words>520</Words>
  <Application>Microsoft Office PowerPoint</Application>
  <PresentationFormat>Widescreen</PresentationFormat>
  <Paragraphs>74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DengXian</vt:lpstr>
      <vt:lpstr>DengXian</vt:lpstr>
      <vt:lpstr>Arial</vt:lpstr>
      <vt:lpstr>Calibri</vt:lpstr>
      <vt:lpstr>Cambria Math</vt:lpstr>
      <vt:lpstr>Times New Roman</vt:lpstr>
      <vt:lpstr>Office Theme</vt:lpstr>
      <vt:lpstr>Trapping analysis of a magnetic electron by a circularly polarized electromagnetic wave in static electric field </vt:lpstr>
      <vt:lpstr>Introduction section</vt:lpstr>
      <vt:lpstr>Pseudo-potential model for wave-electron interaction</vt:lpstr>
      <vt:lpstr>Trapping in anomalous doppler resonance (g = 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important theory about auto resonance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Trapping analysis of a magnetic electron by a circularly polarized electromagnetic wave in static electric field </dc:title>
  <dc:creator>Xinhang Xu</dc:creator>
  <cp:lastModifiedBy>Xinhang Xu</cp:lastModifiedBy>
  <cp:revision>16</cp:revision>
  <dcterms:created xsi:type="dcterms:W3CDTF">2025-12-01T07:33:48Z</dcterms:created>
  <dcterms:modified xsi:type="dcterms:W3CDTF">2025-12-12T01:14:09Z</dcterms:modified>
</cp:coreProperties>
</file>