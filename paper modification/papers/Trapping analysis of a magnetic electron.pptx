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8" r:id="rId4"/>
    <p:sldId id="257" r:id="rId5"/>
    <p:sldId id="261" r:id="rId6"/>
    <p:sldId id="262" r:id="rId7"/>
    <p:sldId id="263" r:id="rId8"/>
    <p:sldId id="264" r:id="rId9"/>
    <p:sldId id="260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2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56" y="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CED6C-C3A6-F792-84AA-CA26A24B32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EA3242-7BDD-E9F9-9EE4-4193DBAEA6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6CC64D-4948-E348-733C-02350ABC7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84B17E-2773-F27F-EAD9-1B0317E50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00AB18-687A-F202-937E-F33B7C21C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6576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D8C04-172F-43F8-C284-219F02C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5F901-4978-631A-0389-2896B26839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B39248-1076-83B0-21AC-EB7F0496F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57B04E-0EB9-9BA7-14D3-5B6E34C458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D9AB22-1B76-FEC0-3F0A-B54BA7431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557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AD5DD-8238-8E37-6FCB-59FFECB0A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99135E-6C83-CBB0-3E8A-03F9BA6851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8CE115-2CED-5113-0D28-64662CA85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29963B-51F7-6282-930A-8122707DB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5BA706-A4F1-C523-51D8-FDD5E02B6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05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30DF9-AB7C-6473-3FE1-9F2C88EFB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9E0DE0-0229-B7A9-EA12-7464959AB0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61C5BA-0BD1-6617-0512-3D76CA9361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42A644-031F-B714-7FB0-A20B788D9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DE7EEA-005C-0DBD-590D-53530082A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EF857-CEFF-1DAA-2ECB-8A34CF66F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3794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52C0A-73F2-FAE2-981B-7BD207F28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3A6E0-5C6E-A19F-588D-F78EF15F15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721639-5EE4-2337-F77C-2AE3989BFF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658B11-02B0-A84A-C9DA-987EF7E8EE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E25B8D-BBB0-62DE-A67E-6D42F61020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47376A-D88B-F97E-EAF1-789B59008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265ED8D-3669-C211-6D69-19336DBB8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806423-80C9-C320-0761-6C2C911E3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1300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C6C8F-18B1-B292-920A-FEB6DC10C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F61482-0FBC-AC2B-DAE5-9E642EE1A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F61112-54A2-6027-634F-7F33FE77D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4A6771-8684-2299-9477-8C10B1109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8818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B83396F-639B-E663-5E04-541524998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E2FBFA-35C1-1DC8-37AE-8299CE5515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AF4DA4-D193-0B20-A03F-75814504F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313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427F8-6952-FA1D-9438-A28A388FC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95E7CE-F4A6-A1EE-9B49-B7EA61B82F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C70278-9911-2C97-873D-E1E03001CE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1BB0C1-8924-12A1-69A5-5B28F36D4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11EAE5-90CD-7659-94CD-D0ADF01AD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1723C3-D4C7-75C7-E7A9-729673D6B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31173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3DD88-144D-8260-ADC3-17D2103B5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B8533A-5880-B051-FFDA-DB18DDFEC2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9F29E4-7DE8-3F38-795B-BA068042E9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9E83E7-BD5C-AFC7-F003-66ABFC54E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65B824-0B73-8A0D-34A9-0FF791710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8F6CF8-6A56-CC90-95A7-F8667247A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111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78711-8EFF-609C-13E8-9506C484B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EE6C1A-0E9A-3427-BF16-3F25C7B81E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635294-BF47-3E12-F6A3-1AA2F684B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660183-A444-A163-CB35-DBCD2BE802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4805BB-32DA-CF07-DF8B-18B6181D7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765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8A84312-1426-8C58-6F2D-37A480981B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AB9151-69BF-1C30-7465-F76D84019A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2B88EE-8BE2-6792-AE50-EF00C5D7B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0800-D1B5-006B-0354-EA92D8028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C509AC-DB47-31D7-FC5A-1011E9EB61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73419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42FBF2-D41C-F9C5-99EA-3C079FE85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A2B876-150C-4EE9-75A5-19CE6A85E9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714CEA-3098-BC05-3C33-785BC4A0EC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644C63-7FDE-4D31-B4BB-7754D5A277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10FE6-CD34-7D62-AE29-FC876A360C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A01E7F-5543-7919-6A87-802415A5A9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9802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1C61D-60DA-0BDD-B056-AD9954FBB8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1122363"/>
            <a:ext cx="9777663" cy="2387600"/>
          </a:xfrm>
        </p:spPr>
        <p:txBody>
          <a:bodyPr>
            <a:normAutofit fontScale="90000"/>
          </a:bodyPr>
          <a:lstStyle/>
          <a:p>
            <a:r>
              <a:rPr lang="en-US" sz="3600" b="1" dirty="0"/>
              <a:t>Trapping analysis of a magnetic electron by a circularly polarized electromagnetic wave in static electric field</a:t>
            </a:r>
            <a:br>
              <a:rPr lang="en-US" dirty="0"/>
            </a:b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B3F5DC-325D-22B6-764D-FC3ECC06C7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11/30/2025</a:t>
            </a:r>
          </a:p>
        </p:txBody>
      </p:sp>
    </p:spTree>
    <p:extLst>
      <p:ext uri="{BB962C8B-B14F-4D97-AF65-F5344CB8AC3E}">
        <p14:creationId xmlns:p14="http://schemas.microsoft.com/office/powerpoint/2010/main" val="9702386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8C7FB-829E-703B-FA87-3BFBB04D1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section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957BE-5E20-3275-7050-CBCD56C438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4480"/>
            <a:ext cx="1051560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Acceleration mechanisms </a:t>
            </a:r>
          </a:p>
          <a:p>
            <a:r>
              <a:rPr lang="en-US" dirty="0" err="1"/>
              <a:t>Autoresonance</a:t>
            </a:r>
            <a:endParaRPr lang="en-US" dirty="0"/>
          </a:p>
          <a:p>
            <a:r>
              <a:rPr lang="en-US" dirty="0" err="1"/>
              <a:t>Betatron</a:t>
            </a:r>
            <a:r>
              <a:rPr lang="en-US" dirty="0"/>
              <a:t> resonance</a:t>
            </a:r>
          </a:p>
          <a:p>
            <a:r>
              <a:rPr lang="en-US" dirty="0"/>
              <a:t>Ponderomotive-force-driven acceleration</a:t>
            </a:r>
          </a:p>
          <a:p>
            <a:r>
              <a:rPr lang="en-US" dirty="0"/>
              <a:t>Landau resonant</a:t>
            </a:r>
          </a:p>
          <a:p>
            <a:pPr marL="0" indent="0">
              <a:buNone/>
            </a:pPr>
            <a:r>
              <a:rPr lang="en-US" dirty="0"/>
              <a:t>Trapping  mechanisms </a:t>
            </a:r>
          </a:p>
          <a:p>
            <a:r>
              <a:rPr lang="en-US" dirty="0"/>
              <a:t>optical tweezers </a:t>
            </a:r>
          </a:p>
          <a:p>
            <a:r>
              <a:rPr lang="en-US" dirty="0"/>
              <a:t>ponderomotive potential wells (generated by the spatial interference patterns of laser beats )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7633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4DEB5-AABB-82A3-2B9D-3FB9A81B2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Pseudo-potential model for wave-electron interaction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9759F9-C1B7-9855-DE8E-67F8B6E7D3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r>
                  <a:rPr lang="en-US" i="1" dirty="0"/>
                  <a:t>1</a:t>
                </a:r>
                <a:r>
                  <a:rPr lang="en-US" altLang="zh-CN" i="1" dirty="0"/>
                  <a:t>-10 </a:t>
                </a:r>
                <a:r>
                  <a:rPr lang="zh-CN" altLang="en-US" i="1" dirty="0"/>
                  <a:t>页，通过</a:t>
                </a:r>
                <a:endParaRPr lang="en-US" altLang="zh-CN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den>
                      </m:f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⊥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⊥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altLang="zh-CN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den>
                      </m:f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⊥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⊥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⊥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altLang="zh-CN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𝐄</m:t>
                          </m:r>
                        </m:e>
                      </m:acc>
                      <m:r>
                        <a:rPr lang="en-US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w</m:t>
                          </m:r>
                        </m:sub>
                      </m:sSub>
                      <m:r>
                        <a:rPr lang="en-US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kz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ωt</m:t>
                              </m:r>
                            </m:e>
                          </m:d>
                          <m:r>
                            <a:rPr lang="en-US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hlinkClick r:id="" action="ppaction://noaction"/>
                            </a:rPr>
                            <m:t>𝑔</m:t>
                          </m:r>
                          <m:r>
                            <a:rPr lang="en-US">
                              <a:latin typeface="Cambria Math" panose="02040503050406030204" pitchFamily="18" charset="0"/>
                            </a:rPr>
                            <m:t> ŷ 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kz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ωt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altLang="zh-CN" i="1" dirty="0"/>
              </a:p>
              <a:p>
                <a:pPr marL="0" indent="0">
                  <a:buNone/>
                </a:pPr>
                <a:r>
                  <a:rPr lang="zh-CN" altLang="en-US" i="1" dirty="0"/>
                  <a:t>得出以下方程：</a:t>
                </a:r>
                <a:endParaRPr lang="en-US" i="1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𝜉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𝜉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ς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∫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ξ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𝜅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⊥0</m:t>
                                </m:r>
                              </m:sub>
                            </m:sSub>
                            <m:func>
                              <m:func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func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𝜉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′2</m:t>
                            </m:r>
                          </m:sup>
                        </m:sSup>
                      </m:e>
                    </m:d>
                  </m:oMath>
                </a14:m>
                <a:endParaRPr lang="en-US" i="1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𝜕𝜓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                                        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𝜉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Initial condition 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𝜏</m:t>
                        </m:r>
                      </m:den>
                    </m:f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𝑔𝑠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𝑐𝑜𝑠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𝜍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r>
                  <a:rPr lang="zh-CN" altLang="en-US" dirty="0"/>
                  <a:t>其中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ωn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β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⊥0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Ω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den>
                    </m:f>
                    <m:r>
                      <a:rPr lang="zh-CN" altLang="en-US" i="1" smtClean="0"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ξ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z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=1+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α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zh-CN" altLang="en-US" dirty="0"/>
                  <a:t>，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𝜔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Ω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zh-CN" altLang="en-US" i="1" smtClean="0"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ς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𝑔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Ω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den>
                    </m:f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,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𝜅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′=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⊥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n=ck/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dirty="0"/>
                  <a:t>, LCP ,g = 1 ; RCP , g = -1 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zh-CN" altLang="en-US" i="1">
                        <a:latin typeface="Cambria Math" panose="02040503050406030204" pitchFamily="18" charset="0"/>
                      </a:rPr>
                      <m:t>相速度</m:t>
                    </m:r>
                  </m:oMath>
                </a14:m>
                <a:r>
                  <a:rPr lang="zh-CN" altLang="en-US" dirty="0"/>
                  <a:t>洛伦兹因子</a:t>
                </a:r>
                <a:r>
                  <a:rPr lang="en-US" altLang="zh-CN" dirty="0"/>
                  <a:t>;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/>
                  <a:t> </a:t>
                </a:r>
                <a:r>
                  <a:rPr lang="zh-CN" altLang="en-US" dirty="0"/>
                  <a:t>相速度相对静止空间下洛伦兹因子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9759F9-C1B7-9855-DE8E-67F8B6E7D3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rrow: Right 3">
            <a:extLst>
              <a:ext uri="{FF2B5EF4-FFF2-40B4-BE49-F238E27FC236}">
                <a16:creationId xmlns:a16="http://schemas.microsoft.com/office/drawing/2014/main" id="{BB94BD0E-6132-9655-3F0D-42C03D68A41C}"/>
              </a:ext>
            </a:extLst>
          </p:cNvPr>
          <p:cNvSpPr/>
          <p:nvPr/>
        </p:nvSpPr>
        <p:spPr>
          <a:xfrm>
            <a:off x="2444116" y="4367965"/>
            <a:ext cx="1548063" cy="397042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554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CDF5A8-9935-B34C-A258-E12CF1246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42901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/>
              <a:t>Trapping in anomalous doppler resonance (g = 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AC1CA58-CC1D-9ED3-55B6-405F0A194178}"/>
                  </a:ext>
                </a:extLst>
              </p:cNvPr>
              <p:cNvSpPr txBox="1"/>
              <p:nvPr/>
            </p:nvSpPr>
            <p:spPr>
              <a:xfrm>
                <a:off x="525745" y="4580329"/>
                <a:ext cx="3731930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B</a:t>
                </a:r>
                <a:r>
                  <a:rPr lang="en-US" sz="1800" baseline="-250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0</a:t>
                </a:r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​ = 2 T, E</a:t>
                </a:r>
                <a:r>
                  <a:rPr lang="en-US" sz="1800" baseline="-250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0</a:t>
                </a:r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 = -0.2 V/m, refractive index n = 4 and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𝜔</m:t>
                    </m:r>
                    <m:r>
                      <a:rPr lang="en-US" sz="1800" b="0" i="1" smtClean="0"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=1.1 </m:t>
                    </m:r>
                    <m:r>
                      <m:rPr>
                        <m:sty m:val="p"/>
                      </m:rPr>
                      <a:rPr lang="en-US" sz="1800" b="0" i="0" smtClean="0"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Ω</m:t>
                    </m:r>
                    <m:r>
                      <a:rPr lang="en-US" sz="1800" b="0" i="1" smtClean="0"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,</m:t>
                    </m:r>
                  </m:oMath>
                </a14:m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</m:sSub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=20 </m:t>
                    </m:r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1800" dirty="0">
                    <a:solidFill>
                      <a:srgbClr val="FF0000"/>
                    </a:solidFill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</a:p>
              <a:p>
                <a:r>
                  <a:rPr lang="zh-CN" altLang="en-US" dirty="0"/>
                  <a:t>左旋波</a:t>
                </a:r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AC1CA58-CC1D-9ED3-55B6-405F0A1941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45" y="4580329"/>
                <a:ext cx="3731930" cy="923330"/>
              </a:xfrm>
              <a:prstGeom prst="rect">
                <a:avLst/>
              </a:prstGeom>
              <a:blipFill>
                <a:blip r:embed="rId2"/>
                <a:stretch>
                  <a:fillRect l="-1307" t="-3289" r="-2778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96378EFE-888A-8685-E1B9-96C12182EB07}"/>
              </a:ext>
            </a:extLst>
          </p:cNvPr>
          <p:cNvSpPr txBox="1"/>
          <p:nvPr/>
        </p:nvSpPr>
        <p:spPr>
          <a:xfrm>
            <a:off x="187393" y="904247"/>
            <a:ext cx="2844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Unstrapping situation</a:t>
            </a:r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1CFD5EF-7B66-EA15-39D0-C168516540EB}"/>
              </a:ext>
            </a:extLst>
          </p:cNvPr>
          <p:cNvGrpSpPr/>
          <p:nvPr/>
        </p:nvGrpSpPr>
        <p:grpSpPr>
          <a:xfrm>
            <a:off x="4831551" y="904247"/>
            <a:ext cx="6527058" cy="5899461"/>
            <a:chOff x="4687915" y="1021042"/>
            <a:chExt cx="6527058" cy="589946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9ABA76B-0D12-F9A4-1B3C-243AACAD84D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5866" t="4527" r="6122"/>
            <a:stretch/>
          </p:blipFill>
          <p:spPr bwMode="auto">
            <a:xfrm>
              <a:off x="4687915" y="1021042"/>
              <a:ext cx="5900837" cy="589946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510EF89-4225-7CE4-8D99-779ADC2DD57C}"/>
                </a:ext>
              </a:extLst>
            </p:cNvPr>
            <p:cNvGrpSpPr/>
            <p:nvPr/>
          </p:nvGrpSpPr>
          <p:grpSpPr>
            <a:xfrm>
              <a:off x="10338529" y="4919831"/>
              <a:ext cx="876444" cy="849562"/>
              <a:chOff x="10253688" y="4910404"/>
              <a:chExt cx="876444" cy="849562"/>
            </a:xfrm>
          </p:grpSpPr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8EE8EB5-AA4D-2085-ED88-816151C17834}"/>
                  </a:ext>
                </a:extLst>
              </p:cNvPr>
              <p:cNvSpPr txBox="1"/>
              <p:nvPr/>
            </p:nvSpPr>
            <p:spPr>
              <a:xfrm>
                <a:off x="10503911" y="4910404"/>
                <a:ext cx="54138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W</a:t>
                </a:r>
                <a:r>
                  <a:rPr lang="en-US" baseline="-25000" dirty="0"/>
                  <a:t>0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698A2788-56C2-B870-ED6A-43D5E748981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253688" y="5069947"/>
                <a:ext cx="250223" cy="3383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5A42B9A0-6888-64BC-4846-0C3FDF91ADA9}"/>
                      </a:ext>
                    </a:extLst>
                  </p:cNvPr>
                  <p:cNvSpPr txBox="1"/>
                  <p:nvPr/>
                </p:nvSpPr>
                <p:spPr>
                  <a:xfrm>
                    <a:off x="10588752" y="5390634"/>
                    <a:ext cx="54138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b="0" i="0" dirty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𝜓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𝜉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baseline="-25000" dirty="0"/>
                  </a:p>
                </p:txBody>
              </p:sp>
            </mc:Choice>
            <mc:Fallback xmlns="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5A42B9A0-6888-64BC-4846-0C3FDF91ADA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588752" y="5390634"/>
                    <a:ext cx="541380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49438" b="-1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E3DBADC5-00E4-0049-FF1C-0909017DC46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272216" y="5316702"/>
                <a:ext cx="386600" cy="21342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E8DD7B9C-443A-7987-1DA3-0C9E51C667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745" y="1396763"/>
            <a:ext cx="3018875" cy="3106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54650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CB2AB36-0E56-48E4-9DE6-88493540EC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8505" y="411101"/>
            <a:ext cx="6438420" cy="635366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8FB4E5-245F-7546-EE05-CB1F9F3B17C0}"/>
                  </a:ext>
                </a:extLst>
              </p:cNvPr>
              <p:cNvSpPr txBox="1"/>
              <p:nvPr/>
            </p:nvSpPr>
            <p:spPr>
              <a:xfrm>
                <a:off x="379692" y="2516536"/>
                <a:ext cx="44188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/>
                  <a:t>Same as Fig. (1) except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US" dirty="0"/>
                  <a:t> = 22 V/m.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8FB4E5-245F-7546-EE05-CB1F9F3B1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692" y="2516536"/>
                <a:ext cx="4418813" cy="369332"/>
              </a:xfrm>
              <a:prstGeom prst="rect">
                <a:avLst/>
              </a:prstGeom>
              <a:blipFill>
                <a:blip r:embed="rId3"/>
                <a:stretch>
                  <a:fillRect l="-1103"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4DAABDFF-5EC2-9233-A4A2-07F08FCEB365}"/>
              </a:ext>
            </a:extLst>
          </p:cNvPr>
          <p:cNvSpPr txBox="1"/>
          <p:nvPr/>
        </p:nvSpPr>
        <p:spPr>
          <a:xfrm>
            <a:off x="664067" y="1375639"/>
            <a:ext cx="28446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/>
              <a:t>Trapping situation</a:t>
            </a:r>
            <a:endParaRPr lang="en-US" sz="2000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90BA1B8-5309-7D53-F2D8-59871A069A14}"/>
              </a:ext>
            </a:extLst>
          </p:cNvPr>
          <p:cNvSpPr txBox="1">
            <a:spLocks/>
          </p:cNvSpPr>
          <p:nvPr/>
        </p:nvSpPr>
        <p:spPr>
          <a:xfrm>
            <a:off x="160256" y="93233"/>
            <a:ext cx="10515600" cy="13255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/>
              <a:t>Trapping in anomalous doppler resonance (g = 1)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5969067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83D15D3-915E-6387-000B-B0C10ED72A14}"/>
              </a:ext>
            </a:extLst>
          </p:cNvPr>
          <p:cNvSpPr txBox="1"/>
          <p:nvPr/>
        </p:nvSpPr>
        <p:spPr>
          <a:xfrm>
            <a:off x="322868" y="107564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Trapping in normal doppler resonance (g = -1)</a:t>
            </a:r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9195A3F-98C5-50D0-245E-6EED24A1F1CE}"/>
              </a:ext>
            </a:extLst>
          </p:cNvPr>
          <p:cNvGrpSpPr/>
          <p:nvPr/>
        </p:nvGrpSpPr>
        <p:grpSpPr>
          <a:xfrm>
            <a:off x="7476294" y="1256892"/>
            <a:ext cx="3018875" cy="3106633"/>
            <a:chOff x="1192404" y="1360627"/>
            <a:chExt cx="3018875" cy="3106633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D180345-15C3-0C8C-1E46-99D8CD8212D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92404" y="1360627"/>
              <a:ext cx="3018875" cy="3106633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795C48A-A1E6-192E-00B3-3E9FB3803EFC}"/>
                </a:ext>
              </a:extLst>
            </p:cNvPr>
            <p:cNvSpPr/>
            <p:nvPr/>
          </p:nvSpPr>
          <p:spPr>
            <a:xfrm>
              <a:off x="3389260" y="2028825"/>
              <a:ext cx="240384" cy="159089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C84D1184-9819-B552-7420-C4625AA81A4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09452" y="2028825"/>
              <a:ext cx="0" cy="1514475"/>
            </a:xfrm>
            <a:prstGeom prst="straightConnector1">
              <a:avLst/>
            </a:prstGeom>
            <a:ln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A928216-7FA6-ADF9-A360-52191DE99548}"/>
                    </a:ext>
                  </a:extLst>
                </p:cNvPr>
                <p:cNvSpPr txBox="1"/>
                <p:nvPr/>
              </p:nvSpPr>
              <p:spPr>
                <a:xfrm>
                  <a:off x="3620762" y="1659493"/>
                  <a:ext cx="33849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𝒌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A928216-7FA6-ADF9-A360-52191DE995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0762" y="1659493"/>
                  <a:ext cx="338496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1D494F96-1598-DDCE-BE61-69857825585A}"/>
              </a:ext>
            </a:extLst>
          </p:cNvPr>
          <p:cNvSpPr txBox="1"/>
          <p:nvPr/>
        </p:nvSpPr>
        <p:spPr>
          <a:xfrm>
            <a:off x="685799" y="632299"/>
            <a:ext cx="56153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Time domain structures (TDS) in magnetosphere 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DFBE179-D9E7-6A7C-1F6B-399ECC87CE53}"/>
              </a:ext>
            </a:extLst>
          </p:cNvPr>
          <p:cNvGrpSpPr/>
          <p:nvPr/>
        </p:nvGrpSpPr>
        <p:grpSpPr>
          <a:xfrm>
            <a:off x="762000" y="1025188"/>
            <a:ext cx="6187201" cy="3142334"/>
            <a:chOff x="4335933" y="1731486"/>
            <a:chExt cx="6187201" cy="314233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A054AF76-4263-A964-EB98-A01A9F09AAC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35933" y="2797670"/>
              <a:ext cx="6187201" cy="2076150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6780476-3BB2-0BAA-9C00-431DF03A8BDE}"/>
                </a:ext>
              </a:extLst>
            </p:cNvPr>
            <p:cNvSpPr/>
            <p:nvPr/>
          </p:nvSpPr>
          <p:spPr>
            <a:xfrm>
              <a:off x="8071688" y="2911670"/>
              <a:ext cx="513347" cy="1209675"/>
            </a:xfrm>
            <a:prstGeom prst="rect">
              <a:avLst/>
            </a:prstGeom>
            <a:solidFill>
              <a:schemeClr val="accent1">
                <a:alpha val="1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D37A0AD-E3EA-F2E3-F6CD-A336C1E7C04F}"/>
                </a:ext>
              </a:extLst>
            </p:cNvPr>
            <p:cNvCxnSpPr/>
            <p:nvPr/>
          </p:nvCxnSpPr>
          <p:spPr>
            <a:xfrm>
              <a:off x="7229475" y="2768874"/>
              <a:ext cx="154305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9DC105B9-DA11-32EE-4632-7BC14DA1500D}"/>
                    </a:ext>
                  </a:extLst>
                </p:cNvPr>
                <p:cNvSpPr txBox="1"/>
                <p:nvPr/>
              </p:nvSpPr>
              <p:spPr>
                <a:xfrm>
                  <a:off x="8310563" y="2424641"/>
                  <a:ext cx="4572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𝒌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9DC105B9-DA11-32EE-4632-7BC14DA150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10563" y="2424641"/>
                  <a:ext cx="45720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57C76B5-1539-A5DD-599D-723CDE369D20}"/>
                </a:ext>
              </a:extLst>
            </p:cNvPr>
            <p:cNvCxnSpPr>
              <a:cxnSpLocks/>
            </p:cNvCxnSpPr>
            <p:nvPr/>
          </p:nvCxnSpPr>
          <p:spPr>
            <a:xfrm>
              <a:off x="7229475" y="2457600"/>
              <a:ext cx="1538288" cy="0"/>
            </a:xfrm>
            <a:prstGeom prst="straightConnector1">
              <a:avLst/>
            </a:prstGeom>
            <a:ln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649C2306-CD0D-DEE0-C64B-072328C67A98}"/>
                    </a:ext>
                  </a:extLst>
                </p:cNvPr>
                <p:cNvSpPr txBox="1"/>
                <p:nvPr/>
              </p:nvSpPr>
              <p:spPr>
                <a:xfrm>
                  <a:off x="8377238" y="2088268"/>
                  <a:ext cx="32385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649C2306-CD0D-DEE0-C64B-072328C67A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77238" y="2088268"/>
                  <a:ext cx="323850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698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BDA8B75C-3968-8395-EF95-B9F63CD8F31F}"/>
                </a:ext>
              </a:extLst>
            </p:cNvPr>
            <p:cNvCxnSpPr>
              <a:cxnSpLocks/>
            </p:cNvCxnSpPr>
            <p:nvPr/>
          </p:nvCxnSpPr>
          <p:spPr>
            <a:xfrm>
              <a:off x="7229475" y="2088268"/>
              <a:ext cx="1538288" cy="0"/>
            </a:xfrm>
            <a:prstGeom prst="straightConnector1">
              <a:avLst/>
            </a:prstGeom>
            <a:ln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235AC54-F478-26C2-5116-594B2394EC39}"/>
                    </a:ext>
                  </a:extLst>
                </p:cNvPr>
                <p:cNvSpPr txBox="1"/>
                <p:nvPr/>
              </p:nvSpPr>
              <p:spPr>
                <a:xfrm>
                  <a:off x="8377238" y="1731486"/>
                  <a:ext cx="32385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235AC54-F478-26C2-5116-594B2394EC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77238" y="1731486"/>
                  <a:ext cx="323850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1886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74AD39A0-BCAA-19BC-714D-E48F373ED305}"/>
              </a:ext>
            </a:extLst>
          </p:cNvPr>
          <p:cNvSpPr txBox="1"/>
          <p:nvPr/>
        </p:nvSpPr>
        <p:spPr>
          <a:xfrm>
            <a:off x="1293905" y="4281522"/>
            <a:ext cx="18478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V</a:t>
            </a:r>
            <a:r>
              <a:rPr lang="en-US" sz="1800" baseline="-250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TDS</a:t>
            </a:r>
            <a:r>
              <a:rPr lang="en-US" sz="18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/c</a:t>
            </a:r>
            <a:r>
              <a:rPr lang="en-US" sz="1800">
                <a:effectLst/>
                <a:latin typeface="Cambria Math" panose="02040503050406030204" pitchFamily="18" charset="0"/>
                <a:ea typeface="等线" panose="02010600030101010101" pitchFamily="2" charset="-122"/>
                <a:cs typeface="Cambria Math" panose="02040503050406030204" pitchFamily="18" charset="0"/>
              </a:rPr>
              <a:t>∼</a:t>
            </a:r>
            <a:r>
              <a:rPr lang="en-US" sz="18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 -0.0333 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2B8A970-1145-0953-9A91-1560650FA7A7}"/>
              </a:ext>
            </a:extLst>
          </p:cNvPr>
          <p:cNvSpPr txBox="1"/>
          <p:nvPr/>
        </p:nvSpPr>
        <p:spPr>
          <a:xfrm>
            <a:off x="1293905" y="4692257"/>
            <a:ext cx="1152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en-US" sz="1800" baseline="-250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en-US" sz="1800">
                <a:effectLst/>
                <a:latin typeface="Cambria Math" panose="02040503050406030204" pitchFamily="18" charset="0"/>
                <a:ea typeface="等线" panose="02010600030101010101" pitchFamily="2" charset="-122"/>
                <a:cs typeface="Cambria Math" panose="02040503050406030204" pitchFamily="18" charset="0"/>
              </a:rPr>
              <a:t>∼</a:t>
            </a:r>
            <a:r>
              <a:rPr lang="en-US" sz="18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64 nT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728DC3F-1053-B6FF-3306-D89BF7B53F5A}"/>
              </a:ext>
            </a:extLst>
          </p:cNvPr>
          <p:cNvSpPr txBox="1"/>
          <p:nvPr/>
        </p:nvSpPr>
        <p:spPr>
          <a:xfrm>
            <a:off x="1293905" y="5133951"/>
            <a:ext cx="17621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E</a:t>
            </a:r>
            <a:r>
              <a:rPr lang="en-US" sz="1800" baseline="-250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en-US" sz="1800" dirty="0">
                <a:effectLst/>
                <a:latin typeface="Cambria Math" panose="02040503050406030204" pitchFamily="18" charset="0"/>
                <a:ea typeface="等线" panose="02010600030101010101" pitchFamily="2" charset="-122"/>
                <a:cs typeface="Cambria Math" panose="02040503050406030204" pitchFamily="18" charset="0"/>
              </a:rPr>
              <a:t>∼</a:t>
            </a:r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100 mV/m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F72AA2-456C-5824-EFCC-F375D2193374}"/>
              </a:ext>
            </a:extLst>
          </p:cNvPr>
          <p:cNvSpPr txBox="1"/>
          <p:nvPr/>
        </p:nvSpPr>
        <p:spPr>
          <a:xfrm>
            <a:off x="1293905" y="5595402"/>
            <a:ext cx="1533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n</a:t>
            </a:r>
            <a:r>
              <a:rPr lang="en-US" sz="1800" baseline="-250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e</a:t>
            </a:r>
            <a:r>
              <a:rPr lang="en-US" sz="1800" dirty="0">
                <a:effectLst/>
                <a:latin typeface="Cambria Math" panose="02040503050406030204" pitchFamily="18" charset="0"/>
                <a:ea typeface="等线" panose="02010600030101010101" pitchFamily="2" charset="-122"/>
                <a:cs typeface="Cambria Math" panose="02040503050406030204" pitchFamily="18" charset="0"/>
              </a:rPr>
              <a:t>∼</a:t>
            </a:r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0.15 cm</a:t>
            </a:r>
            <a:r>
              <a:rPr lang="en-US" sz="1800" baseline="300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-3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531EC93-D96D-BAD8-30BD-F504DE32D9E7}"/>
              </a:ext>
            </a:extLst>
          </p:cNvPr>
          <p:cNvSpPr txBox="1"/>
          <p:nvPr/>
        </p:nvSpPr>
        <p:spPr>
          <a:xfrm>
            <a:off x="6707394" y="5005437"/>
            <a:ext cx="4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NDE resonant speed = V</a:t>
            </a:r>
            <a:r>
              <a:rPr lang="en-US" baseline="-25000" dirty="0"/>
              <a:t>TDS</a:t>
            </a:r>
            <a:endParaRPr 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4B73306-1BE6-40DB-26B9-DFBA6B07CE46}"/>
              </a:ext>
            </a:extLst>
          </p:cNvPr>
          <p:cNvSpPr txBox="1"/>
          <p:nvPr/>
        </p:nvSpPr>
        <p:spPr>
          <a:xfrm>
            <a:off x="4497755" y="4745717"/>
            <a:ext cx="15546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ω/Ω = −0.845</a:t>
            </a:r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91FFA01-B524-0C17-81BE-1DAA9515460B}"/>
              </a:ext>
            </a:extLst>
          </p:cNvPr>
          <p:cNvSpPr txBox="1"/>
          <p:nvPr/>
        </p:nvSpPr>
        <p:spPr>
          <a:xfrm>
            <a:off x="3272414" y="5175831"/>
            <a:ext cx="29284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refractive index n = 5.4655 </a:t>
            </a:r>
            <a:endParaRPr lang="en-US" dirty="0"/>
          </a:p>
        </p:txBody>
      </p: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A260EDF4-3D7D-6494-ADEE-99F065BAF3F2}"/>
              </a:ext>
            </a:extLst>
          </p:cNvPr>
          <p:cNvSpPr/>
          <p:nvPr/>
        </p:nvSpPr>
        <p:spPr>
          <a:xfrm>
            <a:off x="6301139" y="5056092"/>
            <a:ext cx="322284" cy="2454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ight Brace 37">
            <a:extLst>
              <a:ext uri="{FF2B5EF4-FFF2-40B4-BE49-F238E27FC236}">
                <a16:creationId xmlns:a16="http://schemas.microsoft.com/office/drawing/2014/main" id="{ED069CF6-60F8-A831-A488-474F7AD5728C}"/>
              </a:ext>
            </a:extLst>
          </p:cNvPr>
          <p:cNvSpPr/>
          <p:nvPr/>
        </p:nvSpPr>
        <p:spPr>
          <a:xfrm>
            <a:off x="5980205" y="4876923"/>
            <a:ext cx="193435" cy="62636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2226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39D954D-16AC-942B-01AF-9E3C8CECD547}"/>
              </a:ext>
            </a:extLst>
          </p:cNvPr>
          <p:cNvGrpSpPr/>
          <p:nvPr/>
        </p:nvGrpSpPr>
        <p:grpSpPr>
          <a:xfrm>
            <a:off x="319637" y="407735"/>
            <a:ext cx="3018875" cy="3106633"/>
            <a:chOff x="1192404" y="1360627"/>
            <a:chExt cx="3018875" cy="3106633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27D86B1-14E3-7CCB-C703-9D6D939076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92404" y="1360627"/>
              <a:ext cx="3018875" cy="3106633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E2BFBAF-97A6-A65A-319C-F3A73B066761}"/>
                </a:ext>
              </a:extLst>
            </p:cNvPr>
            <p:cNvSpPr/>
            <p:nvPr/>
          </p:nvSpPr>
          <p:spPr>
            <a:xfrm>
              <a:off x="3389260" y="2028825"/>
              <a:ext cx="240384" cy="159089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69ECB99D-3099-1FDA-0265-8DF4CAE8517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09452" y="2028825"/>
              <a:ext cx="0" cy="1514475"/>
            </a:xfrm>
            <a:prstGeom prst="straightConnector1">
              <a:avLst/>
            </a:prstGeom>
            <a:ln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BCB1F6D-81A4-361A-4855-8F1C0DEFFD2D}"/>
                    </a:ext>
                  </a:extLst>
                </p:cNvPr>
                <p:cNvSpPr txBox="1"/>
                <p:nvPr/>
              </p:nvSpPr>
              <p:spPr>
                <a:xfrm>
                  <a:off x="3620762" y="1659493"/>
                  <a:ext cx="33849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𝒌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A928216-7FA6-ADF9-A360-52191DE995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0762" y="1659493"/>
                  <a:ext cx="338496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A43022F0-40D6-32DA-BEA3-CEBEBB55261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5997" b="5296"/>
          <a:stretch/>
        </p:blipFill>
        <p:spPr bwMode="auto">
          <a:xfrm>
            <a:off x="5185235" y="0"/>
            <a:ext cx="5942965" cy="670242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42E7CFD-E739-850F-164F-4E60874CD3DB}"/>
              </a:ext>
            </a:extLst>
          </p:cNvPr>
          <p:cNvSpPr txBox="1"/>
          <p:nvPr/>
        </p:nvSpPr>
        <p:spPr>
          <a:xfrm>
            <a:off x="885825" y="3663482"/>
            <a:ext cx="36576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E0 = 100 mV/m, </a:t>
            </a:r>
          </a:p>
          <a:p>
            <a:r>
              <a:rPr lang="en-US" dirty="0" err="1"/>
              <a:t>Ew</a:t>
            </a:r>
            <a:r>
              <a:rPr lang="en-US" dirty="0"/>
              <a:t> = 0.3 V/m, </a:t>
            </a:r>
          </a:p>
          <a:p>
            <a:r>
              <a:rPr lang="en-US" dirty="0"/>
              <a:t>B0 = 64 </a:t>
            </a:r>
            <a:r>
              <a:rPr lang="en-US" dirty="0" err="1"/>
              <a:t>nT</a:t>
            </a:r>
            <a:r>
              <a:rPr lang="en-US" dirty="0"/>
              <a:t>,</a:t>
            </a:r>
          </a:p>
          <a:p>
            <a:r>
              <a:rPr lang="el-GR" dirty="0"/>
              <a:t>ω/Ω = -0.845, </a:t>
            </a:r>
            <a:endParaRPr lang="en-US" dirty="0"/>
          </a:p>
          <a:p>
            <a:r>
              <a:rPr lang="en-US" dirty="0"/>
              <a:t>g = -1,</a:t>
            </a:r>
          </a:p>
          <a:p>
            <a:r>
              <a:rPr lang="en-US" dirty="0"/>
              <a:t> initial </a:t>
            </a:r>
            <a:r>
              <a:rPr lang="el-GR" dirty="0"/>
              <a:t>β_</a:t>
            </a:r>
            <a:r>
              <a:rPr lang="en-US" dirty="0"/>
              <a:t>z= 0.2 and </a:t>
            </a:r>
            <a:r>
              <a:rPr lang="el-GR" dirty="0"/>
              <a:t>β_⊥=0, ϕ0= 0,</a:t>
            </a:r>
            <a:endParaRPr lang="en-US" dirty="0"/>
          </a:p>
          <a:p>
            <a:r>
              <a:rPr lang="el-GR" dirty="0"/>
              <a:t> </a:t>
            </a:r>
            <a:r>
              <a:rPr lang="en-US" dirty="0"/>
              <a:t>n = 5.4655. </a:t>
            </a:r>
          </a:p>
        </p:txBody>
      </p:sp>
    </p:spTree>
    <p:extLst>
      <p:ext uri="{BB962C8B-B14F-4D97-AF65-F5344CB8AC3E}">
        <p14:creationId xmlns:p14="http://schemas.microsoft.com/office/powerpoint/2010/main" val="41550774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576731A-C7D7-99FB-5967-651B79AB24B4}"/>
                  </a:ext>
                </a:extLst>
              </p:cNvPr>
              <p:cNvSpPr txBox="1"/>
              <p:nvPr/>
            </p:nvSpPr>
            <p:spPr>
              <a:xfrm>
                <a:off x="200024" y="1431655"/>
                <a:ext cx="8048625" cy="724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𝜉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𝜉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𝜉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𝜉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ς</m:t>
                                      </m:r>
                                      <m:r>
                                        <a:rPr lang="en-US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∫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ξ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𝜅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⊥0</m:t>
                                  </m:r>
                                </m:sub>
                              </m:sSub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func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𝜉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sSup>
                            <m:sSupPr>
                              <m:ctrlPr>
                                <a:rPr lang="en-US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𝜅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′2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576731A-C7D7-99FB-5967-651B79AB24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024" y="1431655"/>
                <a:ext cx="8048625" cy="7246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2C68A1C-9434-ED4D-0CB6-C4828AD828F6}"/>
              </a:ext>
            </a:extLst>
          </p:cNvPr>
          <p:cNvSpPr txBox="1"/>
          <p:nvPr/>
        </p:nvSpPr>
        <p:spPr>
          <a:xfrm>
            <a:off x="266699" y="95250"/>
            <a:ext cx="2638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Trapping threshold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5CC8282-0131-2AF4-514B-D899DBF8B73B}"/>
                  </a:ext>
                </a:extLst>
              </p:cNvPr>
              <p:cNvSpPr txBox="1"/>
              <p:nvPr/>
            </p:nvSpPr>
            <p:spPr>
              <a:xfrm>
                <a:off x="-876300" y="2477154"/>
                <a:ext cx="6096000" cy="6653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𝜉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𝜏</m:t>
                          </m:r>
                        </m:den>
                      </m:f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​</m:t>
                              </m:r>
                            </m:e>
                          </m:d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</m:sSub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𝑔𝑠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𝜅</m:t>
                          </m:r>
                        </m:e>
                        <m:sup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𝑐𝑜𝑠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𝜍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5CC8282-0131-2AF4-514B-D899DBF8B7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76300" y="2477154"/>
                <a:ext cx="6096000" cy="6653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4757D38-A8EF-6FC3-9A55-94F9BDF481AC}"/>
                  </a:ext>
                </a:extLst>
              </p:cNvPr>
              <p:cNvSpPr txBox="1"/>
              <p:nvPr/>
            </p:nvSpPr>
            <p:spPr>
              <a:xfrm>
                <a:off x="3790950" y="2477154"/>
                <a:ext cx="6534150" cy="5631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indent="182880">
                  <a:lnSpc>
                    <a:spcPct val="107000"/>
                  </a:lnSpc>
                  <a:spcAft>
                    <a:spcPts val="800"/>
                  </a:spcAft>
                  <a:buNone/>
                </a:pPr>
                <a:r>
                  <a:rPr lang="en-US" sz="1800" dirty="0">
                    <a:solidFill>
                      <a:srgbClr val="000000"/>
                    </a:solidFill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Where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s</m:t>
                    </m:r>
                    <m:r>
                      <a:rPr lang="en-US" sz="180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等线" panose="02010600030101010101" pitchFamily="2" charset="-122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80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等线" panose="02010600030101010101" pitchFamily="2" charset="-122"/>
                            <a:cs typeface="Times New Roman" panose="02020603050405020304" pitchFamily="18" charset="0"/>
                          </a:rPr>
                          <m:t>ωn</m:t>
                        </m:r>
                        <m:sSub>
                          <m:sSubPr>
                            <m:ctrlPr>
                              <a:rPr lang="en-US" sz="18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等线" panose="02010600030101010101" pitchFamily="2" charset="-122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80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等线" panose="02010600030101010101" pitchFamily="2" charset="-122"/>
                                <a:cs typeface="Times New Roman" panose="02020603050405020304" pitchFamily="18" charset="0"/>
                              </a:rPr>
                              <m:t>β</m:t>
                            </m:r>
                          </m:e>
                          <m:sub>
                            <m:r>
                              <a:rPr lang="en-US" sz="180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等线" panose="02010600030101010101" pitchFamily="2" charset="-122"/>
                                <a:cs typeface="Times New Roman" panose="02020603050405020304" pitchFamily="18" charset="0"/>
                              </a:rPr>
                              <m:t>⊥0</m:t>
                            </m:r>
                          </m:sub>
                        </m:sSub>
                        <m:sSub>
                          <m:sSubPr>
                            <m:ctrlPr>
                              <a:rPr lang="en-US" sz="18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等线" panose="02010600030101010101" pitchFamily="2" charset="-122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等线" panose="02010600030101010101" pitchFamily="2" charset="-122"/>
                                <a:cs typeface="Times New Roman" panose="020206030504050203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18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等线" panose="02010600030101010101" pitchFamily="2" charset="-122"/>
                                <a:cs typeface="Times New Roman" panose="020206030504050203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 lang="en-US" sz="180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等线" panose="02010600030101010101" pitchFamily="2" charset="-122"/>
                            <a:cs typeface="Times New Roman" panose="02020603050405020304" pitchFamily="18" charset="0"/>
                          </a:rPr>
                          <m:t>Ω</m:t>
                        </m:r>
                        <m:sSub>
                          <m:sSubPr>
                            <m:ctrlPr>
                              <a:rPr lang="en-US" sz="18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等线" panose="02010600030101010101" pitchFamily="2" charset="-122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等线" panose="02010600030101010101" pitchFamily="2" charset="-122"/>
                                <a:cs typeface="Times New Roman" panose="020206030504050203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18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等线" panose="02010600030101010101" pitchFamily="2" charset="-122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sub>
                        </m:sSub>
                      </m:den>
                    </m:f>
                  </m:oMath>
                </a14:m>
                <a:endPara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4757D38-A8EF-6FC3-9A55-94F9BDF481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0950" y="2477154"/>
                <a:ext cx="6534150" cy="56316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950E81-EDDA-F65A-B837-617964DE52AC}"/>
                  </a:ext>
                </a:extLst>
              </p:cNvPr>
              <p:cNvSpPr txBox="1"/>
              <p:nvPr/>
            </p:nvSpPr>
            <p:spPr>
              <a:xfrm>
                <a:off x="704849" y="3619500"/>
                <a:ext cx="7058025" cy="7970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Initial condition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⊥0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dirty="0"/>
              </a:p>
              <a:p>
                <a:r>
                  <a:rPr lang="en-US" dirty="0"/>
                  <a:t>Domination coefficient 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US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ς</m:t>
                            </m:r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𝜅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950E81-EDDA-F65A-B837-617964DE52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849" y="3619500"/>
                <a:ext cx="7058025" cy="797013"/>
              </a:xfrm>
              <a:prstGeom prst="rect">
                <a:avLst/>
              </a:prstGeom>
              <a:blipFill>
                <a:blip r:embed="rId5"/>
                <a:stretch>
                  <a:fillRect l="-778" t="-3846"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73FCB421-95E1-0FE9-CC53-D6C429E9C3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0928" y="2477154"/>
            <a:ext cx="4578493" cy="3438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147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A2528-A28E-C137-9FAE-78C6CD95C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important theory about auto resonance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29083-93C4-DE0B-ABEF-77AB91C702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Nonlinear Resonances, pendulum system , Page 294</a:t>
            </a:r>
          </a:p>
          <a:p>
            <a:r>
              <a:rPr lang="de-DE" dirty="0"/>
              <a:t>J. Fajans, L. Friedland, Am. J. Phys. </a:t>
            </a:r>
            <a:r>
              <a:rPr lang="de-DE"/>
              <a:t>69, 1096 (2001)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6376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1275</TotalTime>
  <Words>417</Words>
  <Application>Microsoft Office PowerPoint</Application>
  <PresentationFormat>Widescreen</PresentationFormat>
  <Paragraphs>61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Cambria Math</vt:lpstr>
      <vt:lpstr>Office Theme</vt:lpstr>
      <vt:lpstr>Trapping analysis of a magnetic electron by a circularly polarized electromagnetic wave in static electric field </vt:lpstr>
      <vt:lpstr>Introduction section</vt:lpstr>
      <vt:lpstr>Pseudo-potential model for wave-electron interaction</vt:lpstr>
      <vt:lpstr>Trapping in anomalous doppler resonance (g = 1)</vt:lpstr>
      <vt:lpstr>PowerPoint Presentation</vt:lpstr>
      <vt:lpstr>PowerPoint Presentation</vt:lpstr>
      <vt:lpstr>PowerPoint Presentation</vt:lpstr>
      <vt:lpstr>PowerPoint Presentation</vt:lpstr>
      <vt:lpstr>Some important theory about auto resonance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Xinhang Xu</dc:creator>
  <cp:lastModifiedBy>Xinhang Xu</cp:lastModifiedBy>
  <cp:revision>6</cp:revision>
  <dcterms:created xsi:type="dcterms:W3CDTF">2025-12-01T07:33:48Z</dcterms:created>
  <dcterms:modified xsi:type="dcterms:W3CDTF">2025-12-04T19:07:59Z</dcterms:modified>
</cp:coreProperties>
</file>