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57" r:id="rId5"/>
    <p:sldId id="261" r:id="rId6"/>
    <p:sldId id="262" r:id="rId7"/>
    <p:sldId id="263" r:id="rId8"/>
    <p:sldId id="264" r:id="rId9"/>
    <p:sldId id="265" r:id="rId10"/>
    <p:sldId id="266" r:id="rId11"/>
    <p:sldId id="269" r:id="rId12"/>
    <p:sldId id="270" r:id="rId13"/>
    <p:sldId id="268" r:id="rId14"/>
    <p:sldId id="26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2938" autoAdjust="0"/>
  </p:normalViewPr>
  <p:slideViewPr>
    <p:cSldViewPr snapToGrid="0">
      <p:cViewPr varScale="1">
        <p:scale>
          <a:sx n="79" d="100"/>
          <a:sy n="79" d="100"/>
        </p:scale>
        <p:origin x="71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CED6C-C3A6-F792-84AA-CA26A24B3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EA3242-7BDD-E9F9-9EE4-4193DBAEA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CC64D-4948-E348-733C-02350ABC7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4B17E-2773-F27F-EAD9-1B0317E50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0AB18-687A-F202-937E-F33B7C21C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57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D8C04-172F-43F8-C284-219F02C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5F901-4978-631A-0389-2896B2683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39248-1076-83B0-21AC-EB7F0496F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7B04E-0EB9-9BA7-14D3-5B6E34C45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9AB22-1B76-FEC0-3F0A-B54BA743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5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AD5DD-8238-8E37-6FCB-59FFECB0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9135E-6C83-CBB0-3E8A-03F9BA685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CE115-2CED-5113-0D28-64662CA85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9963B-51F7-6282-930A-8122707DB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BA706-A4F1-C523-51D8-FDD5E02B6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05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30DF9-AB7C-6473-3FE1-9F2C88EF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E0DE0-0229-B7A9-EA12-7464959AB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1C5BA-0BD1-6617-0512-3D76CA936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2A644-031F-B714-7FB0-A20B788D9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DE7EEA-005C-0DBD-590D-53530082A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EF857-CEFF-1DAA-2ECB-8A34CF66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79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2C0A-73F2-FAE2-981B-7BD207F2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A6E0-5C6E-A19F-588D-F78EF15F1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21639-5EE4-2337-F77C-2AE3989BF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658B11-02B0-A84A-C9DA-987EF7E8E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25B8D-BBB0-62DE-A67E-6D42F6102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47376A-D88B-F97E-EAF1-789B5900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65ED8D-3669-C211-6D69-19336DBB8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806423-80C9-C320-0761-6C2C911E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0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6C8F-18B1-B292-920A-FEB6DC10C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F61482-0FBC-AC2B-DAE5-9E642EE1A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F61112-54A2-6027-634F-7F33FE77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A6771-8684-2299-9477-8C10B1109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8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83396F-639B-E663-5E04-541524998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E2FBFA-35C1-1DC8-37AE-8299CE551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F4DA4-D193-0B20-A03F-75814504F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13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427F8-6952-FA1D-9438-A28A388FC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5E7CE-F4A6-A1EE-9B49-B7EA61B82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C70278-9911-2C97-873D-E1E03001CE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BB0C1-8924-12A1-69A5-5B28F36D4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EAE5-90CD-7659-94CD-D0ADF01A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1723C3-D4C7-75C7-E7A9-729673D6B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117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3DD88-144D-8260-ADC3-17D2103B5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B8533A-5880-B051-FFDA-DB18DDFEC2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9F29E4-7DE8-3F38-795B-BA068042E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E83E7-BD5C-AFC7-F003-66ABFC54E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5B824-0B73-8A0D-34A9-0FF791710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F6CF8-6A56-CC90-95A7-F8667247A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111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78711-8EFF-609C-13E8-9506C484B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EE6C1A-0E9A-3427-BF16-3F25C7B81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35294-BF47-3E12-F6A3-1AA2F684B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0183-A444-A163-CB35-DBCD2BE8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805BB-32DA-CF07-DF8B-18B6181D7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765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A84312-1426-8C58-6F2D-37A480981B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AB9151-69BF-1C30-7465-F76D84019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B88EE-8BE2-6792-AE50-EF00C5D7B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0800-D1B5-006B-0354-EA92D8028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509AC-DB47-31D7-FC5A-1011E9EB6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41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42FBF2-D41C-F9C5-99EA-3C079FE85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2B876-150C-4EE9-75A5-19CE6A85E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14CEA-3098-BC05-3C33-785BC4A0E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644C63-7FDE-4D31-B4BB-7754D5A27718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10FE6-CD34-7D62-AE29-FC876A360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01E7F-5543-7919-6A87-802415A5A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980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1C61D-60DA-0BDD-B056-AD9954FBB8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777663" cy="23876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Trapping analysis of a magnetic electron by a circularly polarized electromagnetic wave in static electric field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3F5DC-325D-22B6-764D-FC3ECC06C7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11/30/2025</a:t>
            </a:r>
          </a:p>
        </p:txBody>
      </p:sp>
    </p:spTree>
    <p:extLst>
      <p:ext uri="{BB962C8B-B14F-4D97-AF65-F5344CB8AC3E}">
        <p14:creationId xmlns:p14="http://schemas.microsoft.com/office/powerpoint/2010/main" val="970238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8C7FB-829E-703B-FA87-3BFBB04D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957BE-5E20-3275-7050-CBCD56C43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480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Acceleration mechanisms </a:t>
            </a:r>
          </a:p>
          <a:p>
            <a:r>
              <a:rPr lang="en-US" dirty="0" err="1"/>
              <a:t>Autoresonance</a:t>
            </a:r>
            <a:endParaRPr lang="en-US" dirty="0"/>
          </a:p>
          <a:p>
            <a:r>
              <a:rPr lang="en-US" dirty="0" err="1"/>
              <a:t>Betatron</a:t>
            </a:r>
            <a:r>
              <a:rPr lang="en-US" dirty="0"/>
              <a:t> resonance</a:t>
            </a:r>
          </a:p>
          <a:p>
            <a:r>
              <a:rPr lang="en-US" dirty="0"/>
              <a:t>Ponderomotive-force-driven acceleration</a:t>
            </a:r>
          </a:p>
          <a:p>
            <a:r>
              <a:rPr lang="en-US" dirty="0"/>
              <a:t>Landau resonant</a:t>
            </a:r>
          </a:p>
          <a:p>
            <a:pPr marL="0" indent="0">
              <a:buNone/>
            </a:pPr>
            <a:r>
              <a:rPr lang="en-US" dirty="0"/>
              <a:t>Trapping  mechanisms </a:t>
            </a:r>
          </a:p>
          <a:p>
            <a:r>
              <a:rPr lang="en-US" dirty="0"/>
              <a:t>optical tweezers </a:t>
            </a:r>
          </a:p>
          <a:p>
            <a:r>
              <a:rPr lang="en-US" dirty="0"/>
              <a:t>ponderomotive potential wells (generated by the spatial interference patterns of laser beats 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763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DEB5-AABB-82A3-2B9D-3FB9A8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Pseudo-potential model for wave-electron interaction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i="1" dirty="0"/>
                  <a:t>1</a:t>
                </a:r>
                <a:r>
                  <a:rPr lang="en-US" altLang="zh-CN" i="1" dirty="0"/>
                  <a:t>-10 </a:t>
                </a:r>
                <a:r>
                  <a:rPr lang="zh-CN" altLang="en-US" i="1" dirty="0"/>
                  <a:t>页，通过</a:t>
                </a:r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𝐄</m:t>
                          </m:r>
                        </m:e>
                      </m:acc>
                      <m:r>
                        <a:rPr lang="en-US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kz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ωt</m:t>
                              </m:r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hlinkClick r:id="" action="ppaction://noaction"/>
                            </a:rPr>
                            <m:t>𝑔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 ŷ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kz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:r>
                  <a:rPr lang="zh-CN" altLang="en-US" i="1" dirty="0"/>
                  <a:t>得出以下方程：</a:t>
                </a:r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ς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∫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⊥0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func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′2</m:t>
                            </m:r>
                          </m:sup>
                        </m:sSup>
                      </m:e>
                    </m:d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𝜕𝜓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                                  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Initial condition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𝜍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zh-CN" altLang="en-US" dirty="0"/>
                  <a:t>其中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ωn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⊥0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=1+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dirty="0"/>
                  <a:t>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ς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n=ck/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LCP ,g = 1 ; RCP , g = -1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相速度</m:t>
                    </m:r>
                  </m:oMath>
                </a14:m>
                <a:r>
                  <a:rPr lang="zh-CN" altLang="en-US" dirty="0"/>
                  <a:t>洛伦兹因子</a:t>
                </a:r>
                <a:r>
                  <a:rPr lang="en-US" altLang="zh-CN" dirty="0"/>
                  <a:t>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  <a:r>
                  <a:rPr lang="zh-CN" altLang="en-US" dirty="0"/>
                  <a:t>相速度相对静止空间下洛伦兹因子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Right 3">
            <a:extLst>
              <a:ext uri="{FF2B5EF4-FFF2-40B4-BE49-F238E27FC236}">
                <a16:creationId xmlns:a16="http://schemas.microsoft.com/office/drawing/2014/main" id="{BB94BD0E-6132-9655-3F0D-42C03D68A41C}"/>
              </a:ext>
            </a:extLst>
          </p:cNvPr>
          <p:cNvSpPr/>
          <p:nvPr/>
        </p:nvSpPr>
        <p:spPr>
          <a:xfrm>
            <a:off x="2444116" y="4367965"/>
            <a:ext cx="1548063" cy="39704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55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DF5A8-9935-B34C-A258-E12CF1246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42901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Trapping in anomalous doppler resonance (g =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/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B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​ = 2 T, E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= -0.2 V/m, refractive index n = 4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𝜔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=1.1 </m:t>
                    </m:r>
                    <m:r>
                      <m:rPr>
                        <m:sty m:val="p"/>
                      </m:rPr>
                      <a:rPr lang="en-US" sz="1800" b="0" i="0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Ω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=20 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800" dirty="0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zh-CN" altLang="en-US" dirty="0"/>
                  <a:t>左旋波</a:t>
                </a:r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blipFill>
                <a:blip r:embed="rId2"/>
                <a:stretch>
                  <a:fillRect l="-1307" t="-3289" r="-2778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6378EFE-888A-8685-E1B9-96C12182EB07}"/>
              </a:ext>
            </a:extLst>
          </p:cNvPr>
          <p:cNvSpPr txBox="1"/>
          <p:nvPr/>
        </p:nvSpPr>
        <p:spPr>
          <a:xfrm>
            <a:off x="187393" y="904247"/>
            <a:ext cx="284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Unstrapping situation</a:t>
            </a: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CFD5EF-7B66-EA15-39D0-C168516540EB}"/>
              </a:ext>
            </a:extLst>
          </p:cNvPr>
          <p:cNvGrpSpPr/>
          <p:nvPr/>
        </p:nvGrpSpPr>
        <p:grpSpPr>
          <a:xfrm>
            <a:off x="4831551" y="904247"/>
            <a:ext cx="6527058" cy="5899461"/>
            <a:chOff x="4687915" y="1021042"/>
            <a:chExt cx="6527058" cy="589946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9ABA76B-0D12-F9A4-1B3C-243AACAD84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866" t="4527" r="6122"/>
            <a:stretch/>
          </p:blipFill>
          <p:spPr bwMode="auto">
            <a:xfrm>
              <a:off x="4687915" y="1021042"/>
              <a:ext cx="5900837" cy="589946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510EF89-4225-7CE4-8D99-779ADC2DD57C}"/>
                </a:ext>
              </a:extLst>
            </p:cNvPr>
            <p:cNvGrpSpPr/>
            <p:nvPr/>
          </p:nvGrpSpPr>
          <p:grpSpPr>
            <a:xfrm>
              <a:off x="10338529" y="4919831"/>
              <a:ext cx="876444" cy="849562"/>
              <a:chOff x="10253688" y="4910404"/>
              <a:chExt cx="876444" cy="84956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EE8EB5-AA4D-2085-ED88-816151C17834}"/>
                  </a:ext>
                </a:extLst>
              </p:cNvPr>
              <p:cNvSpPr txBox="1"/>
              <p:nvPr/>
            </p:nvSpPr>
            <p:spPr>
              <a:xfrm>
                <a:off x="10503911" y="4910404"/>
                <a:ext cx="54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</a:t>
                </a:r>
                <a:r>
                  <a:rPr lang="en-US" baseline="-25000" dirty="0"/>
                  <a:t>0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698A2788-56C2-B870-ED6A-43D5E748981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53688" y="5069947"/>
                <a:ext cx="250223" cy="338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/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baseline="-25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49438" b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E3DBADC5-00E4-0049-FF1C-0909017DC4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72216" y="5316702"/>
                <a:ext cx="386600" cy="2134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E8DD7B9C-443A-7987-1DA3-0C9E51C66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45" y="1396763"/>
            <a:ext cx="3018875" cy="310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465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B2AB36-0E56-48E4-9DE6-88493540E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505" y="411101"/>
            <a:ext cx="6438420" cy="63536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/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Same as Fig. (1) except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= 22 V/m.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blipFill>
                <a:blip r:embed="rId3"/>
                <a:stretch>
                  <a:fillRect l="-1103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DAABDFF-5EC2-9233-A4A2-07F08FCEB365}"/>
              </a:ext>
            </a:extLst>
          </p:cNvPr>
          <p:cNvSpPr txBox="1"/>
          <p:nvPr/>
        </p:nvSpPr>
        <p:spPr>
          <a:xfrm>
            <a:off x="664067" y="1375639"/>
            <a:ext cx="28446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Trapping situation</a:t>
            </a:r>
            <a:endParaRPr lang="en-US" sz="200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90BA1B8-5309-7D53-F2D8-59871A069A14}"/>
              </a:ext>
            </a:extLst>
          </p:cNvPr>
          <p:cNvSpPr txBox="1">
            <a:spLocks/>
          </p:cNvSpPr>
          <p:nvPr/>
        </p:nvSpPr>
        <p:spPr>
          <a:xfrm>
            <a:off x="160256" y="93233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/>
              <a:t>Trapping in anomalous doppler resonance (g = 1)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96906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22868" y="1075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94F96-1598-DDCE-BE61-69857825585A}"/>
              </a:ext>
            </a:extLst>
          </p:cNvPr>
          <p:cNvSpPr txBox="1"/>
          <p:nvPr/>
        </p:nvSpPr>
        <p:spPr>
          <a:xfrm>
            <a:off x="685799" y="63229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54AF76-4263-A964-EB98-A01A9F09A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91372"/>
            <a:ext cx="6187201" cy="207615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633BDAB-B46B-4E1C-A68B-9EEB11589FAD}"/>
              </a:ext>
            </a:extLst>
          </p:cNvPr>
          <p:cNvGrpSpPr/>
          <p:nvPr/>
        </p:nvGrpSpPr>
        <p:grpSpPr>
          <a:xfrm>
            <a:off x="4412339" y="980632"/>
            <a:ext cx="7495750" cy="3346127"/>
            <a:chOff x="3655542" y="1025188"/>
            <a:chExt cx="7495750" cy="334612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29DB891-0ADB-4FCB-B3FB-A3FF41D53A30}"/>
                </a:ext>
              </a:extLst>
            </p:cNvPr>
            <p:cNvGrpSpPr/>
            <p:nvPr/>
          </p:nvGrpSpPr>
          <p:grpSpPr>
            <a:xfrm>
              <a:off x="3655542" y="1264682"/>
              <a:ext cx="7495750" cy="3106633"/>
              <a:chOff x="3655542" y="1264682"/>
              <a:chExt cx="7495750" cy="310663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9195A3F-98C5-50D0-245E-6EED24A1F1CE}"/>
                  </a:ext>
                </a:extLst>
              </p:cNvPr>
              <p:cNvGrpSpPr/>
              <p:nvPr/>
            </p:nvGrpSpPr>
            <p:grpSpPr>
              <a:xfrm>
                <a:off x="7540809" y="1264682"/>
                <a:ext cx="3610483" cy="3106633"/>
                <a:chOff x="1256919" y="1368417"/>
                <a:chExt cx="3610483" cy="3106633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7D180345-15C3-0C8C-1E46-99D8CD8212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56919" y="1368417"/>
                  <a:ext cx="3018875" cy="3106633"/>
                </a:xfrm>
                <a:prstGeom prst="rect">
                  <a:avLst/>
                </a:prstGeom>
              </p:spPr>
            </p:pic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C795C48A-A1E6-192E-00B3-3E9FB3803EFC}"/>
                    </a:ext>
                  </a:extLst>
                </p:cNvPr>
                <p:cNvSpPr/>
                <p:nvPr/>
              </p:nvSpPr>
              <p:spPr>
                <a:xfrm>
                  <a:off x="3389260" y="2028825"/>
                  <a:ext cx="240384" cy="15908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C84D1184-9819-B552-7420-C4625AA81A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97751" y="2122535"/>
                  <a:ext cx="23011" cy="1318183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A928216-7FA6-ADF9-A360-52191DE9954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20762" y="1659493"/>
                      <a:ext cx="124664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A928216-7FA6-ADF9-A360-52191DE995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20762" y="1659493"/>
                      <a:ext cx="1246640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6780476-3BB2-0BAA-9C00-431DF03A8BDE}"/>
                  </a:ext>
                </a:extLst>
              </p:cNvPr>
              <p:cNvSpPr/>
              <p:nvPr/>
            </p:nvSpPr>
            <p:spPr>
              <a:xfrm>
                <a:off x="3834730" y="2263881"/>
                <a:ext cx="513347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D37A0AD-E3EA-F2E3-F6CD-A336C1E7C04F}"/>
                  </a:ext>
                </a:extLst>
              </p:cNvPr>
              <p:cNvCxnSpPr/>
              <p:nvPr/>
            </p:nvCxnSpPr>
            <p:spPr>
              <a:xfrm>
                <a:off x="3655542" y="2062576"/>
                <a:ext cx="154305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/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57C76B5-1539-A5DD-599D-723CDE369D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751302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/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886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DA8B75C-3968-8395-EF95-B9F63CD8F3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381970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/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07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74AD39A0-BCAA-19BC-714D-E48F373ED305}"/>
              </a:ext>
            </a:extLst>
          </p:cNvPr>
          <p:cNvSpPr txBox="1"/>
          <p:nvPr/>
        </p:nvSpPr>
        <p:spPr>
          <a:xfrm>
            <a:off x="1293905" y="4281522"/>
            <a:ext cx="1847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TDS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/c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 -0.0333 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B8A970-1145-0953-9A91-1560650FA7A7}"/>
              </a:ext>
            </a:extLst>
          </p:cNvPr>
          <p:cNvSpPr txBox="1"/>
          <p:nvPr/>
        </p:nvSpPr>
        <p:spPr>
          <a:xfrm>
            <a:off x="1293905" y="4692257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64 nT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28DC3F-1053-B6FF-3306-D89BF7B53F5A}"/>
              </a:ext>
            </a:extLst>
          </p:cNvPr>
          <p:cNvSpPr txBox="1"/>
          <p:nvPr/>
        </p:nvSpPr>
        <p:spPr>
          <a:xfrm>
            <a:off x="1293905" y="5133951"/>
            <a:ext cx="1762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100 mV/m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F72AA2-456C-5824-EFCC-F375D2193374}"/>
              </a:ext>
            </a:extLst>
          </p:cNvPr>
          <p:cNvSpPr txBox="1"/>
          <p:nvPr/>
        </p:nvSpPr>
        <p:spPr>
          <a:xfrm>
            <a:off x="1293905" y="5595402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0.15 cm</a:t>
            </a:r>
            <a:r>
              <a:rPr lang="en-US" sz="1800" baseline="30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-3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31EC93-D96D-BAD8-30BD-F504DE32D9E7}"/>
              </a:ext>
            </a:extLst>
          </p:cNvPr>
          <p:cNvSpPr txBox="1"/>
          <p:nvPr/>
        </p:nvSpPr>
        <p:spPr>
          <a:xfrm>
            <a:off x="6707394" y="5005437"/>
            <a:ext cx="4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NDE resonant speed = V</a:t>
            </a:r>
            <a:r>
              <a:rPr lang="en-US" baseline="-25000" dirty="0"/>
              <a:t>TDS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B73306-1BE6-40DB-26B9-DFBA6B07CE46}"/>
              </a:ext>
            </a:extLst>
          </p:cNvPr>
          <p:cNvSpPr txBox="1"/>
          <p:nvPr/>
        </p:nvSpPr>
        <p:spPr>
          <a:xfrm>
            <a:off x="4497755" y="4745717"/>
            <a:ext cx="1554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ω/Ω = −0.845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1FFA01-B524-0C17-81BE-1DAA9515460B}"/>
              </a:ext>
            </a:extLst>
          </p:cNvPr>
          <p:cNvSpPr txBox="1"/>
          <p:nvPr/>
        </p:nvSpPr>
        <p:spPr>
          <a:xfrm>
            <a:off x="3272414" y="5175831"/>
            <a:ext cx="2928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refractive index n = 5.4655 </a:t>
            </a:r>
            <a:endParaRPr lang="en-US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260EDF4-3D7D-6494-ADEE-99F065BAF3F2}"/>
              </a:ext>
            </a:extLst>
          </p:cNvPr>
          <p:cNvSpPr/>
          <p:nvPr/>
        </p:nvSpPr>
        <p:spPr>
          <a:xfrm>
            <a:off x="6301139" y="5056092"/>
            <a:ext cx="322284" cy="2454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ED069CF6-60F8-A831-A488-474F7AD5728C}"/>
              </a:ext>
            </a:extLst>
          </p:cNvPr>
          <p:cNvSpPr/>
          <p:nvPr/>
        </p:nvSpPr>
        <p:spPr>
          <a:xfrm>
            <a:off x="5980205" y="4876923"/>
            <a:ext cx="193435" cy="6263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7CC6A-A812-4B44-B4B0-DDFF1C3A2CF4}"/>
              </a:ext>
            </a:extLst>
          </p:cNvPr>
          <p:cNvSpPr/>
          <p:nvPr/>
        </p:nvSpPr>
        <p:spPr>
          <a:xfrm>
            <a:off x="5928559" y="6304100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876A3B7-F873-499C-AFF0-24B656663BB6}"/>
              </a:ext>
            </a:extLst>
          </p:cNvPr>
          <p:cNvSpPr/>
          <p:nvPr/>
        </p:nvSpPr>
        <p:spPr>
          <a:xfrm>
            <a:off x="1371600" y="2753862"/>
            <a:ext cx="2438400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640E229-24F7-408E-B4EF-3FA8DC553928}"/>
              </a:ext>
            </a:extLst>
          </p:cNvPr>
          <p:cNvSpPr/>
          <p:nvPr/>
        </p:nvSpPr>
        <p:spPr>
          <a:xfrm>
            <a:off x="5113756" y="2680633"/>
            <a:ext cx="1072571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222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9D954D-16AC-942B-01AF-9E3C8CECD547}"/>
              </a:ext>
            </a:extLst>
          </p:cNvPr>
          <p:cNvGrpSpPr/>
          <p:nvPr/>
        </p:nvGrpSpPr>
        <p:grpSpPr>
          <a:xfrm>
            <a:off x="319637" y="407735"/>
            <a:ext cx="3018875" cy="3106633"/>
            <a:chOff x="1192404" y="1360627"/>
            <a:chExt cx="3018875" cy="310663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27D86B1-14E3-7CCB-C703-9D6D93907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2404" y="1360627"/>
              <a:ext cx="3018875" cy="3106633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E2BFBAF-97A6-A65A-319C-F3A73B066761}"/>
                </a:ext>
              </a:extLst>
            </p:cNvPr>
            <p:cNvSpPr/>
            <p:nvPr/>
          </p:nvSpPr>
          <p:spPr>
            <a:xfrm>
              <a:off x="3389260" y="2028825"/>
              <a:ext cx="240384" cy="15908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9ECB99D-3099-1FDA-0265-8DF4CAE851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9452" y="2028825"/>
              <a:ext cx="0" cy="1514475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BCB1F6D-81A4-361A-4855-8F1C0DEFFD2D}"/>
                    </a:ext>
                  </a:extLst>
                </p:cNvPr>
                <p:cNvSpPr txBox="1"/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A928216-7FA6-ADF9-A360-52191DE995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43022F0-40D6-32DA-BEA3-CEBEBB5526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997" b="5296"/>
          <a:stretch/>
        </p:blipFill>
        <p:spPr bwMode="auto">
          <a:xfrm>
            <a:off x="5185235" y="0"/>
            <a:ext cx="5942965" cy="67024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42E7CFD-E739-850F-164F-4E60874CD3DB}"/>
              </a:ext>
            </a:extLst>
          </p:cNvPr>
          <p:cNvSpPr txBox="1"/>
          <p:nvPr/>
        </p:nvSpPr>
        <p:spPr>
          <a:xfrm>
            <a:off x="885825" y="3663482"/>
            <a:ext cx="3657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E0 = 100 mV/m, </a:t>
            </a:r>
          </a:p>
          <a:p>
            <a:r>
              <a:rPr lang="en-US" dirty="0" err="1"/>
              <a:t>Ew</a:t>
            </a:r>
            <a:r>
              <a:rPr lang="en-US" dirty="0"/>
              <a:t> = 0.3 V/m, </a:t>
            </a:r>
          </a:p>
          <a:p>
            <a:r>
              <a:rPr lang="en-US" dirty="0"/>
              <a:t>B0 = 64 </a:t>
            </a:r>
            <a:r>
              <a:rPr lang="en-US" dirty="0" err="1"/>
              <a:t>nT</a:t>
            </a:r>
            <a:r>
              <a:rPr lang="en-US" dirty="0"/>
              <a:t>,</a:t>
            </a:r>
          </a:p>
          <a:p>
            <a:r>
              <a:rPr lang="el-GR" dirty="0"/>
              <a:t>ω/Ω = -0.845, </a:t>
            </a:r>
            <a:endParaRPr lang="en-US" dirty="0"/>
          </a:p>
          <a:p>
            <a:r>
              <a:rPr lang="en-US" dirty="0"/>
              <a:t>g = -1,</a:t>
            </a:r>
          </a:p>
          <a:p>
            <a:r>
              <a:rPr lang="en-US" dirty="0"/>
              <a:t> initial </a:t>
            </a:r>
            <a:r>
              <a:rPr lang="el-GR" dirty="0"/>
              <a:t>β_</a:t>
            </a:r>
            <a:r>
              <a:rPr lang="en-US" dirty="0"/>
              <a:t>z= 0.2 and </a:t>
            </a:r>
            <a:r>
              <a:rPr lang="el-GR" dirty="0"/>
              <a:t>β_⊥=0, ϕ0= 0,</a:t>
            </a:r>
            <a:endParaRPr lang="en-US" dirty="0"/>
          </a:p>
          <a:p>
            <a:r>
              <a:rPr lang="el-GR" dirty="0"/>
              <a:t> </a:t>
            </a:r>
            <a:r>
              <a:rPr lang="en-US" dirty="0"/>
              <a:t>n = 5.4655. </a:t>
            </a:r>
          </a:p>
        </p:txBody>
      </p:sp>
    </p:spTree>
    <p:extLst>
      <p:ext uri="{BB962C8B-B14F-4D97-AF65-F5344CB8AC3E}">
        <p14:creationId xmlns:p14="http://schemas.microsoft.com/office/powerpoint/2010/main" val="4155077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C68A1C-9434-ED4D-0CB6-C4828AD828F6}"/>
              </a:ext>
            </a:extLst>
          </p:cNvPr>
          <p:cNvSpPr txBox="1"/>
          <p:nvPr/>
        </p:nvSpPr>
        <p:spPr>
          <a:xfrm>
            <a:off x="266699" y="95250"/>
            <a:ext cx="582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Trapping threshold</a:t>
            </a:r>
            <a:r>
              <a:rPr lang="zh-CN" altLang="en-US" dirty="0"/>
              <a:t>：</a:t>
            </a:r>
            <a:r>
              <a:rPr lang="en-US" altLang="zh-CN" dirty="0"/>
              <a:t>Anomalous doppler effect </a:t>
            </a:r>
            <a:r>
              <a:rPr lang="en-US" dirty="0"/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2539AB2-4BD8-4B0D-BB1A-E4B0FE2F7308}"/>
              </a:ext>
            </a:extLst>
          </p:cNvPr>
          <p:cNvGrpSpPr/>
          <p:nvPr/>
        </p:nvGrpSpPr>
        <p:grpSpPr>
          <a:xfrm>
            <a:off x="266699" y="1025265"/>
            <a:ext cx="11327021" cy="3005742"/>
            <a:chOff x="-1064559" y="1932525"/>
            <a:chExt cx="11228294" cy="30057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576731A-C7D7-99FB-5967-651B79AB24B4}"/>
                    </a:ext>
                  </a:extLst>
                </p:cNvPr>
                <p:cNvSpPr txBox="1"/>
                <p:nvPr/>
              </p:nvSpPr>
              <p:spPr>
                <a:xfrm>
                  <a:off x="-32499" y="1932525"/>
                  <a:ext cx="8048625" cy="7246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ς</m:t>
                                        </m:r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∫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⊥0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576731A-C7D7-99FB-5967-651B79AB24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2499" y="1932525"/>
                  <a:ext cx="8048625" cy="72468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5CC8282-0131-2AF4-514B-D899DBF8B73B}"/>
                    </a:ext>
                  </a:extLst>
                </p:cNvPr>
                <p:cNvSpPr txBox="1"/>
                <p:nvPr/>
              </p:nvSpPr>
              <p:spPr>
                <a:xfrm>
                  <a:off x="-1064559" y="3093492"/>
                  <a:ext cx="6096000" cy="6653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</m:e>
                            </m:d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</m:sSub>
                        <m:r>
                          <a:rPr lang="en-US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𝑔𝑠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𝑐𝑜𝑠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𝜍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5CC8282-0131-2AF4-514B-D899DBF8B7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64559" y="3093492"/>
                  <a:ext cx="6096000" cy="6653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4757D38-A8EF-6FC3-9A55-94F9BDF481AC}"/>
                    </a:ext>
                  </a:extLst>
                </p:cNvPr>
                <p:cNvSpPr txBox="1"/>
                <p:nvPr/>
              </p:nvSpPr>
              <p:spPr>
                <a:xfrm>
                  <a:off x="3629585" y="3210780"/>
                  <a:ext cx="6534150" cy="56316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indent="182880">
                    <a:lnSpc>
                      <a:spcPct val="107000"/>
                    </a:lnSpc>
                    <a:spcAft>
                      <a:spcPts val="800"/>
                    </a:spcAft>
                    <a:buNone/>
                  </a:pPr>
                  <a:r>
                    <a:rPr lang="en-US" sz="1800" dirty="0">
                      <a:solidFill>
                        <a:srgbClr val="000000"/>
                      </a:solidFill>
                      <a:effectLst/>
                      <a:latin typeface="Calibri" panose="020F0502020204030204" pitchFamily="34" charset="0"/>
                      <a:ea typeface="等线" panose="02010600030101010101" pitchFamily="2" charset="-122"/>
                      <a:cs typeface="Times New Roman" panose="02020603050405020304" pitchFamily="18" charset="0"/>
                    </a:rPr>
                    <a:t>Where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s</m:t>
                      </m:r>
                      <m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ωn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⊥0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Ω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b>
                          </m:sSub>
                        </m:den>
                      </m:f>
                    </m:oMath>
                  </a14:m>
                  <a:endPara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4757D38-A8EF-6FC3-9A55-94F9BDF481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9585" y="3210780"/>
                  <a:ext cx="6534150" cy="563167"/>
                </a:xfrm>
                <a:prstGeom prst="rect">
                  <a:avLst/>
                </a:prstGeom>
                <a:blipFill>
                  <a:blip r:embed="rId4"/>
                  <a:stretch>
                    <a:fillRect b="-1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D950E81-EDDA-F65A-B837-617964DE52AC}"/>
                    </a:ext>
                  </a:extLst>
                </p:cNvPr>
                <p:cNvSpPr txBox="1"/>
                <p:nvPr/>
              </p:nvSpPr>
              <p:spPr>
                <a:xfrm>
                  <a:off x="462802" y="4141254"/>
                  <a:ext cx="7058025" cy="7970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Initial condition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⊥0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en-US" dirty="0"/>
                </a:p>
                <a:p>
                  <a:r>
                    <a:rPr lang="en-US" dirty="0"/>
                    <a:t>Domination coefficient :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ς</m:t>
                              </m:r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𝜅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D950E81-EDDA-F65A-B837-617964DE52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2802" y="4141254"/>
                  <a:ext cx="7058025" cy="797013"/>
                </a:xfrm>
                <a:prstGeom prst="rect">
                  <a:avLst/>
                </a:prstGeom>
                <a:blipFill>
                  <a:blip r:embed="rId5"/>
                  <a:stretch>
                    <a:fillRect l="-771" t="-4615" b="-7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73FCB421-95E1-0FE9-CC53-D6C429E9C3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409" y="1989056"/>
            <a:ext cx="457849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14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ACEB75-4889-4E65-84CA-4A767B90239B}"/>
              </a:ext>
            </a:extLst>
          </p:cNvPr>
          <p:cNvSpPr txBox="1"/>
          <p:nvPr/>
        </p:nvSpPr>
        <p:spPr>
          <a:xfrm>
            <a:off x="266699" y="95250"/>
            <a:ext cx="582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Quantum benchmark</a:t>
            </a:r>
            <a:r>
              <a:rPr lang="zh-CN" altLang="en-US" dirty="0"/>
              <a:t>：</a:t>
            </a:r>
            <a:r>
              <a:rPr lang="en-US" dirty="0"/>
              <a:t> energy transfer ratio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ACD6C1-9438-41D9-8AA3-27D61D02913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614100" y="650048"/>
            <a:ext cx="5829301" cy="42866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0F7B3ED-B987-4373-AE73-38D8EDBD1D8F}"/>
                  </a:ext>
                </a:extLst>
              </p:cNvPr>
              <p:cNvSpPr/>
              <p:nvPr/>
            </p:nvSpPr>
            <p:spPr>
              <a:xfrm>
                <a:off x="748069" y="1338980"/>
                <a:ext cx="1522725" cy="3940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η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p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/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𝐸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0F7B3ED-B987-4373-AE73-38D8EDBD1D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069" y="1338980"/>
                <a:ext cx="1522725" cy="394019"/>
              </a:xfrm>
              <a:prstGeom prst="rect">
                <a:avLst/>
              </a:prstGeom>
              <a:blipFill>
                <a:blip r:embed="rId3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D9618CD-2424-4762-BE85-3380E20FCCDA}"/>
                  </a:ext>
                </a:extLst>
              </p:cNvPr>
              <p:cNvSpPr/>
              <p:nvPr/>
            </p:nvSpPr>
            <p:spPr>
              <a:xfrm>
                <a:off x="712892" y="1776187"/>
                <a:ext cx="3361368" cy="71173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D9618CD-2424-4762-BE85-3380E20FCC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92" y="1776187"/>
                <a:ext cx="3361368" cy="7117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9EDD3D8-AA09-4AD8-BCD4-3D3612FE2557}"/>
                  </a:ext>
                </a:extLst>
              </p:cNvPr>
              <p:cNvSpPr/>
              <p:nvPr/>
            </p:nvSpPr>
            <p:spPr>
              <a:xfrm>
                <a:off x="715175" y="4056501"/>
                <a:ext cx="3083473" cy="67460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n</m:t>
                          </m:r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v</m:t>
                          </m:r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9EDD3D8-AA09-4AD8-BCD4-3D3612FE25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175" y="4056501"/>
                <a:ext cx="3083473" cy="6746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8CA3D10-2B43-4BE8-BF85-5AE81B256493}"/>
                  </a:ext>
                </a:extLst>
              </p:cNvPr>
              <p:cNvSpPr/>
              <p:nvPr/>
            </p:nvSpPr>
            <p:spPr>
              <a:xfrm>
                <a:off x="795134" y="2487920"/>
                <a:ext cx="1475660" cy="6109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8CA3D10-2B43-4BE8-BF85-5AE81B256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34" y="2487920"/>
                <a:ext cx="1475660" cy="6109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CFC0071-7727-4E46-B75B-9C352CD7F6CF}"/>
              </a:ext>
            </a:extLst>
          </p:cNvPr>
          <p:cNvSpPr txBox="1"/>
          <p:nvPr/>
        </p:nvSpPr>
        <p:spPr>
          <a:xfrm>
            <a:off x="748069" y="860747"/>
            <a:ext cx="274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Classical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F8CF94-9CD2-4663-BEE0-68BBE9743C41}"/>
              </a:ext>
            </a:extLst>
          </p:cNvPr>
          <p:cNvSpPr txBox="1"/>
          <p:nvPr/>
        </p:nvSpPr>
        <p:spPr>
          <a:xfrm>
            <a:off x="712892" y="3399316"/>
            <a:ext cx="274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Quantum results</a:t>
            </a:r>
          </a:p>
        </p:txBody>
      </p:sp>
    </p:spTree>
    <p:extLst>
      <p:ext uri="{BB962C8B-B14F-4D97-AF65-F5344CB8AC3E}">
        <p14:creationId xmlns:p14="http://schemas.microsoft.com/office/powerpoint/2010/main" val="2526376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EF4FD3-30DB-4607-B8AA-5B5E1BA5EFFF}"/>
              </a:ext>
            </a:extLst>
          </p:cNvPr>
          <p:cNvSpPr txBox="1"/>
          <p:nvPr/>
        </p:nvSpPr>
        <p:spPr>
          <a:xfrm>
            <a:off x="259975" y="977153"/>
            <a:ext cx="80682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Discussion 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Trapping phenomenon explanation from momentum conservation and angular conservation </a:t>
            </a:r>
          </a:p>
          <a:p>
            <a:pPr marL="342900" indent="-342900">
              <a:buAutoNum type="arabicPeriod"/>
            </a:pPr>
            <a:r>
              <a:rPr lang="en-US" dirty="0"/>
              <a:t>Potential application in plasma heating and runaway suppression</a:t>
            </a:r>
          </a:p>
          <a:p>
            <a:pPr marL="342900" indent="-342900">
              <a:buAutoNum type="arabicPeriod"/>
            </a:pPr>
            <a:r>
              <a:rPr lang="en-US" dirty="0"/>
              <a:t>Space Plasma Dynamics(particle acceleration, precipitation)</a:t>
            </a:r>
          </a:p>
        </p:txBody>
      </p:sp>
    </p:spTree>
    <p:extLst>
      <p:ext uri="{BB962C8B-B14F-4D97-AF65-F5344CB8AC3E}">
        <p14:creationId xmlns:p14="http://schemas.microsoft.com/office/powerpoint/2010/main" val="1071114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22868" y="1075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94F96-1598-DDCE-BE61-69857825585A}"/>
              </a:ext>
            </a:extLst>
          </p:cNvPr>
          <p:cNvSpPr txBox="1"/>
          <p:nvPr/>
        </p:nvSpPr>
        <p:spPr>
          <a:xfrm>
            <a:off x="685799" y="63229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54AF76-4263-A964-EB98-A01A9F09A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91372"/>
            <a:ext cx="6187201" cy="207615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633BDAB-B46B-4E1C-A68B-9EEB11589FAD}"/>
              </a:ext>
            </a:extLst>
          </p:cNvPr>
          <p:cNvGrpSpPr/>
          <p:nvPr/>
        </p:nvGrpSpPr>
        <p:grpSpPr>
          <a:xfrm>
            <a:off x="4412339" y="980632"/>
            <a:ext cx="6257992" cy="3366339"/>
            <a:chOff x="3655542" y="1025188"/>
            <a:chExt cx="6257992" cy="3366339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29DB891-0ADB-4FCB-B3FB-A3FF41D53A30}"/>
                </a:ext>
              </a:extLst>
            </p:cNvPr>
            <p:cNvGrpSpPr/>
            <p:nvPr/>
          </p:nvGrpSpPr>
          <p:grpSpPr>
            <a:xfrm>
              <a:off x="3655542" y="1284894"/>
              <a:ext cx="6257992" cy="3106633"/>
              <a:chOff x="3655542" y="1284894"/>
              <a:chExt cx="6257992" cy="310663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9195A3F-98C5-50D0-245E-6EED24A1F1CE}"/>
                  </a:ext>
                </a:extLst>
              </p:cNvPr>
              <p:cNvGrpSpPr/>
              <p:nvPr/>
            </p:nvGrpSpPr>
            <p:grpSpPr>
              <a:xfrm>
                <a:off x="6819102" y="1284894"/>
                <a:ext cx="3094432" cy="3106633"/>
                <a:chOff x="535212" y="1388629"/>
                <a:chExt cx="3094432" cy="3106633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7D180345-15C3-0C8C-1E46-99D8CD8212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5212" y="1388629"/>
                  <a:ext cx="3018875" cy="3106633"/>
                </a:xfrm>
                <a:prstGeom prst="rect">
                  <a:avLst/>
                </a:prstGeom>
              </p:spPr>
            </p:pic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C795C48A-A1E6-192E-00B3-3E9FB3803EFC}"/>
                    </a:ext>
                  </a:extLst>
                </p:cNvPr>
                <p:cNvSpPr/>
                <p:nvPr/>
              </p:nvSpPr>
              <p:spPr>
                <a:xfrm>
                  <a:off x="3389260" y="2028825"/>
                  <a:ext cx="240384" cy="15908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6780476-3BB2-0BAA-9C00-431DF03A8BDE}"/>
                  </a:ext>
                </a:extLst>
              </p:cNvPr>
              <p:cNvSpPr/>
              <p:nvPr/>
            </p:nvSpPr>
            <p:spPr>
              <a:xfrm>
                <a:off x="3834730" y="2263881"/>
                <a:ext cx="513347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D37A0AD-E3EA-F2E3-F6CD-A336C1E7C04F}"/>
                  </a:ext>
                </a:extLst>
              </p:cNvPr>
              <p:cNvCxnSpPr/>
              <p:nvPr/>
            </p:nvCxnSpPr>
            <p:spPr>
              <a:xfrm>
                <a:off x="3655542" y="2062576"/>
                <a:ext cx="154305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/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57C76B5-1539-A5DD-599D-723CDE369D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751302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/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886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DA8B75C-3968-8395-EF95-B9F63CD8F3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381970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/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07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74AD39A0-BCAA-19BC-714D-E48F373ED305}"/>
              </a:ext>
            </a:extLst>
          </p:cNvPr>
          <p:cNvSpPr txBox="1"/>
          <p:nvPr/>
        </p:nvSpPr>
        <p:spPr>
          <a:xfrm>
            <a:off x="1293905" y="4281522"/>
            <a:ext cx="1847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TDS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/c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 -0.0333 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B8A970-1145-0953-9A91-1560650FA7A7}"/>
              </a:ext>
            </a:extLst>
          </p:cNvPr>
          <p:cNvSpPr txBox="1"/>
          <p:nvPr/>
        </p:nvSpPr>
        <p:spPr>
          <a:xfrm>
            <a:off x="1293905" y="4692257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64 nT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28DC3F-1053-B6FF-3306-D89BF7B53F5A}"/>
              </a:ext>
            </a:extLst>
          </p:cNvPr>
          <p:cNvSpPr txBox="1"/>
          <p:nvPr/>
        </p:nvSpPr>
        <p:spPr>
          <a:xfrm>
            <a:off x="1293905" y="5133951"/>
            <a:ext cx="1762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100 mV/m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F72AA2-456C-5824-EFCC-F375D2193374}"/>
              </a:ext>
            </a:extLst>
          </p:cNvPr>
          <p:cNvSpPr txBox="1"/>
          <p:nvPr/>
        </p:nvSpPr>
        <p:spPr>
          <a:xfrm>
            <a:off x="1293905" y="5595402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0.15 cm</a:t>
            </a:r>
            <a:r>
              <a:rPr lang="en-US" sz="1800" baseline="30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-3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31EC93-D96D-BAD8-30BD-F504DE32D9E7}"/>
              </a:ext>
            </a:extLst>
          </p:cNvPr>
          <p:cNvSpPr txBox="1"/>
          <p:nvPr/>
        </p:nvSpPr>
        <p:spPr>
          <a:xfrm>
            <a:off x="6707394" y="5005437"/>
            <a:ext cx="4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NDE resonant speed = V</a:t>
            </a:r>
            <a:r>
              <a:rPr lang="en-US" baseline="-25000" dirty="0"/>
              <a:t>TDS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B73306-1BE6-40DB-26B9-DFBA6B07CE46}"/>
              </a:ext>
            </a:extLst>
          </p:cNvPr>
          <p:cNvSpPr txBox="1"/>
          <p:nvPr/>
        </p:nvSpPr>
        <p:spPr>
          <a:xfrm>
            <a:off x="4497755" y="4745717"/>
            <a:ext cx="1554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ω/Ω = −0.845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1FFA01-B524-0C17-81BE-1DAA9515460B}"/>
              </a:ext>
            </a:extLst>
          </p:cNvPr>
          <p:cNvSpPr txBox="1"/>
          <p:nvPr/>
        </p:nvSpPr>
        <p:spPr>
          <a:xfrm>
            <a:off x="3272414" y="5175831"/>
            <a:ext cx="2928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refractive index n = 5.4655 </a:t>
            </a:r>
            <a:endParaRPr lang="en-US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260EDF4-3D7D-6494-ADEE-99F065BAF3F2}"/>
              </a:ext>
            </a:extLst>
          </p:cNvPr>
          <p:cNvSpPr/>
          <p:nvPr/>
        </p:nvSpPr>
        <p:spPr>
          <a:xfrm>
            <a:off x="6301139" y="5056092"/>
            <a:ext cx="322284" cy="2454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ED069CF6-60F8-A831-A488-474F7AD5728C}"/>
              </a:ext>
            </a:extLst>
          </p:cNvPr>
          <p:cNvSpPr/>
          <p:nvPr/>
        </p:nvSpPr>
        <p:spPr>
          <a:xfrm>
            <a:off x="5980205" y="4876923"/>
            <a:ext cx="193435" cy="6263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7CC6A-A812-4B44-B4B0-DDFF1C3A2CF4}"/>
              </a:ext>
            </a:extLst>
          </p:cNvPr>
          <p:cNvSpPr/>
          <p:nvPr/>
        </p:nvSpPr>
        <p:spPr>
          <a:xfrm>
            <a:off x="5928559" y="6304100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876A3B7-F873-499C-AFF0-24B656663BB6}"/>
              </a:ext>
            </a:extLst>
          </p:cNvPr>
          <p:cNvSpPr/>
          <p:nvPr/>
        </p:nvSpPr>
        <p:spPr>
          <a:xfrm>
            <a:off x="1371600" y="2753862"/>
            <a:ext cx="2438400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640E229-24F7-408E-B4EF-3FA8DC553928}"/>
              </a:ext>
            </a:extLst>
          </p:cNvPr>
          <p:cNvSpPr/>
          <p:nvPr/>
        </p:nvSpPr>
        <p:spPr>
          <a:xfrm>
            <a:off x="5113756" y="2680633"/>
            <a:ext cx="1072571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936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81F5EA1-D868-46FC-9D64-6E2519EE0819}"/>
              </a:ext>
            </a:extLst>
          </p:cNvPr>
          <p:cNvSpPr/>
          <p:nvPr/>
        </p:nvSpPr>
        <p:spPr>
          <a:xfrm>
            <a:off x="6575628" y="1463858"/>
            <a:ext cx="955040" cy="93390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DC59D2C-C549-49FA-B2B1-80A9E4C8EDEA}"/>
              </a:ext>
            </a:extLst>
          </p:cNvPr>
          <p:cNvSpPr/>
          <p:nvPr/>
        </p:nvSpPr>
        <p:spPr>
          <a:xfrm>
            <a:off x="7175068" y="1234440"/>
            <a:ext cx="2275840" cy="122936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99CA202-3DDB-4C88-906D-DF9A2E22A36F}"/>
              </a:ext>
            </a:extLst>
          </p:cNvPr>
          <p:cNvSpPr/>
          <p:nvPr/>
        </p:nvSpPr>
        <p:spPr>
          <a:xfrm>
            <a:off x="6766560" y="3613665"/>
            <a:ext cx="1341120" cy="151713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EC00AFA-04DB-4972-8AC6-AA5900F7FD6E}"/>
              </a:ext>
            </a:extLst>
          </p:cNvPr>
          <p:cNvSpPr/>
          <p:nvPr/>
        </p:nvSpPr>
        <p:spPr>
          <a:xfrm>
            <a:off x="7437120" y="3473210"/>
            <a:ext cx="2275840" cy="174573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A53074D-3764-40BA-9AEB-DBD140381D5C}"/>
              </a:ext>
            </a:extLst>
          </p:cNvPr>
          <p:cNvGrpSpPr/>
          <p:nvPr/>
        </p:nvGrpSpPr>
        <p:grpSpPr>
          <a:xfrm>
            <a:off x="1231654" y="1341938"/>
            <a:ext cx="3018875" cy="3106633"/>
            <a:chOff x="535019" y="1352098"/>
            <a:chExt cx="3018875" cy="310663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D90B5BE-D413-4114-BE86-0A1C58EB8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535019" y="1352098"/>
              <a:ext cx="3018875" cy="3106633"/>
            </a:xfrm>
            <a:custGeom>
              <a:avLst/>
              <a:gdLst>
                <a:gd name="connsiteX0" fmla="*/ 1922479 w 3018875"/>
                <a:gd name="connsiteY0" fmla="*/ 630036 h 3106633"/>
                <a:gd name="connsiteX1" fmla="*/ 1922479 w 3018875"/>
                <a:gd name="connsiteY1" fmla="*/ 2220927 h 3106633"/>
                <a:gd name="connsiteX2" fmla="*/ 2701557 w 3018875"/>
                <a:gd name="connsiteY2" fmla="*/ 2220927 h 3106633"/>
                <a:gd name="connsiteX3" fmla="*/ 2701557 w 3018875"/>
                <a:gd name="connsiteY3" fmla="*/ 630036 h 3106633"/>
                <a:gd name="connsiteX4" fmla="*/ 0 w 3018875"/>
                <a:gd name="connsiteY4" fmla="*/ 0 h 3106633"/>
                <a:gd name="connsiteX5" fmla="*/ 3018875 w 3018875"/>
                <a:gd name="connsiteY5" fmla="*/ 0 h 3106633"/>
                <a:gd name="connsiteX6" fmla="*/ 3018875 w 3018875"/>
                <a:gd name="connsiteY6" fmla="*/ 3106633 h 3106633"/>
                <a:gd name="connsiteX7" fmla="*/ 0 w 3018875"/>
                <a:gd name="connsiteY7" fmla="*/ 3106633 h 310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18875" h="3106633">
                  <a:moveTo>
                    <a:pt x="1922479" y="630036"/>
                  </a:moveTo>
                  <a:lnTo>
                    <a:pt x="1922479" y="2220927"/>
                  </a:lnTo>
                  <a:lnTo>
                    <a:pt x="2701557" y="2220927"/>
                  </a:lnTo>
                  <a:lnTo>
                    <a:pt x="2701557" y="630036"/>
                  </a:lnTo>
                  <a:close/>
                  <a:moveTo>
                    <a:pt x="0" y="0"/>
                  </a:moveTo>
                  <a:lnTo>
                    <a:pt x="3018875" y="0"/>
                  </a:lnTo>
                  <a:lnTo>
                    <a:pt x="3018875" y="3106633"/>
                  </a:lnTo>
                  <a:lnTo>
                    <a:pt x="0" y="3106633"/>
                  </a:lnTo>
                  <a:close/>
                </a:path>
              </a:pathLst>
            </a:cu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6DDC433-D7BB-4656-95C7-ADAE97DB0B16}"/>
                </a:ext>
              </a:extLst>
            </p:cNvPr>
            <p:cNvCxnSpPr/>
            <p:nvPr/>
          </p:nvCxnSpPr>
          <p:spPr>
            <a:xfrm>
              <a:off x="2560320" y="2082800"/>
              <a:ext cx="0" cy="134620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7722395-E5FB-4CEB-8721-0BB1DEA0EB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85440" y="2082800"/>
              <a:ext cx="0" cy="1346200"/>
            </a:xfrm>
            <a:prstGeom prst="straightConnector1">
              <a:avLst/>
            </a:prstGeom>
            <a:ln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D377F0A-BAD0-4DC3-AF50-32192FC318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29280" y="2082800"/>
              <a:ext cx="0" cy="134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43940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22868" y="1075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94F96-1598-DDCE-BE61-69857825585A}"/>
              </a:ext>
            </a:extLst>
          </p:cNvPr>
          <p:cNvSpPr txBox="1"/>
          <p:nvPr/>
        </p:nvSpPr>
        <p:spPr>
          <a:xfrm>
            <a:off x="685799" y="63229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95C48A-A1E6-192E-00B3-3E9FB3803EFC}"/>
              </a:ext>
            </a:extLst>
          </p:cNvPr>
          <p:cNvSpPr/>
          <p:nvPr/>
        </p:nvSpPr>
        <p:spPr>
          <a:xfrm>
            <a:off x="10455753" y="1814449"/>
            <a:ext cx="242726" cy="15908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AD39A0-BCAA-19BC-714D-E48F373ED305}"/>
              </a:ext>
            </a:extLst>
          </p:cNvPr>
          <p:cNvSpPr txBox="1"/>
          <p:nvPr/>
        </p:nvSpPr>
        <p:spPr>
          <a:xfrm>
            <a:off x="1189059" y="4582357"/>
            <a:ext cx="1847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TDS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/c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 -0.0333 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B8A970-1145-0953-9A91-1560650FA7A7}"/>
              </a:ext>
            </a:extLst>
          </p:cNvPr>
          <p:cNvSpPr txBox="1"/>
          <p:nvPr/>
        </p:nvSpPr>
        <p:spPr>
          <a:xfrm>
            <a:off x="1189059" y="4993092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64 nT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28DC3F-1053-B6FF-3306-D89BF7B53F5A}"/>
              </a:ext>
            </a:extLst>
          </p:cNvPr>
          <p:cNvSpPr txBox="1"/>
          <p:nvPr/>
        </p:nvSpPr>
        <p:spPr>
          <a:xfrm>
            <a:off x="1189059" y="5434786"/>
            <a:ext cx="1762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100 mV/m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F72AA2-456C-5824-EFCC-F375D2193374}"/>
              </a:ext>
            </a:extLst>
          </p:cNvPr>
          <p:cNvSpPr txBox="1"/>
          <p:nvPr/>
        </p:nvSpPr>
        <p:spPr>
          <a:xfrm>
            <a:off x="1189059" y="5896237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0.15 cm</a:t>
            </a:r>
            <a:r>
              <a:rPr lang="en-US" sz="1800" baseline="30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-3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31EC93-D96D-BAD8-30BD-F504DE32D9E7}"/>
              </a:ext>
            </a:extLst>
          </p:cNvPr>
          <p:cNvSpPr txBox="1"/>
          <p:nvPr/>
        </p:nvSpPr>
        <p:spPr>
          <a:xfrm>
            <a:off x="6518577" y="5233043"/>
            <a:ext cx="4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NDE resonant speed = V</a:t>
            </a:r>
            <a:r>
              <a:rPr lang="en-US" baseline="-25000" dirty="0"/>
              <a:t>TDS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B73306-1BE6-40DB-26B9-DFBA6B07CE46}"/>
              </a:ext>
            </a:extLst>
          </p:cNvPr>
          <p:cNvSpPr txBox="1"/>
          <p:nvPr/>
        </p:nvSpPr>
        <p:spPr>
          <a:xfrm>
            <a:off x="4392909" y="5046552"/>
            <a:ext cx="1554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ω/Ω = −0.845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1FFA01-B524-0C17-81BE-1DAA9515460B}"/>
              </a:ext>
            </a:extLst>
          </p:cNvPr>
          <p:cNvSpPr txBox="1"/>
          <p:nvPr/>
        </p:nvSpPr>
        <p:spPr>
          <a:xfrm>
            <a:off x="3167568" y="5476666"/>
            <a:ext cx="2928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refractive index n = 5.4655 </a:t>
            </a:r>
            <a:endParaRPr lang="en-US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260EDF4-3D7D-6494-ADEE-99F065BAF3F2}"/>
              </a:ext>
            </a:extLst>
          </p:cNvPr>
          <p:cNvSpPr/>
          <p:nvPr/>
        </p:nvSpPr>
        <p:spPr>
          <a:xfrm>
            <a:off x="6196293" y="5356927"/>
            <a:ext cx="322284" cy="2454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ED069CF6-60F8-A831-A488-474F7AD5728C}"/>
              </a:ext>
            </a:extLst>
          </p:cNvPr>
          <p:cNvSpPr/>
          <p:nvPr/>
        </p:nvSpPr>
        <p:spPr>
          <a:xfrm>
            <a:off x="5875359" y="5177758"/>
            <a:ext cx="193435" cy="6263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7CC6A-A812-4B44-B4B0-DDFF1C3A2CF4}"/>
              </a:ext>
            </a:extLst>
          </p:cNvPr>
          <p:cNvSpPr/>
          <p:nvPr/>
        </p:nvSpPr>
        <p:spPr>
          <a:xfrm>
            <a:off x="5928559" y="6304100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3907C31-E541-4906-8884-19415FBEEF48}"/>
              </a:ext>
            </a:extLst>
          </p:cNvPr>
          <p:cNvGrpSpPr/>
          <p:nvPr/>
        </p:nvGrpSpPr>
        <p:grpSpPr>
          <a:xfrm>
            <a:off x="399867" y="1234850"/>
            <a:ext cx="6187201" cy="3241183"/>
            <a:chOff x="762000" y="914547"/>
            <a:chExt cx="6187201" cy="324118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/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blipFill>
                  <a:blip r:embed="rId2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6E0786E-E7DB-422B-AC19-16CC34434FFC}"/>
                </a:ext>
              </a:extLst>
            </p:cNvPr>
            <p:cNvGrpSpPr/>
            <p:nvPr/>
          </p:nvGrpSpPr>
          <p:grpSpPr>
            <a:xfrm>
              <a:off x="762000" y="1259537"/>
              <a:ext cx="6187201" cy="2896193"/>
              <a:chOff x="762000" y="1271329"/>
              <a:chExt cx="6187201" cy="2896193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054AF76-4263-A964-EB98-A01A9F09A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2000" y="2091372"/>
                <a:ext cx="6187201" cy="2076150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6780476-3BB2-0BAA-9C00-431DF03A8BDE}"/>
                  </a:ext>
                </a:extLst>
              </p:cNvPr>
              <p:cNvSpPr/>
              <p:nvPr/>
            </p:nvSpPr>
            <p:spPr>
              <a:xfrm>
                <a:off x="3832533" y="2219325"/>
                <a:ext cx="518349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D37A0AD-E3EA-F2E3-F6CD-A336C1E7C0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951935"/>
                <a:ext cx="15580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/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57C76B5-1539-A5DD-599D-723CDE369D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640661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DA8B75C-3968-8395-EF95-B9F63CD8F3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271329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1876A3B7-F873-499C-AFF0-24B656663BB6}"/>
                  </a:ext>
                </a:extLst>
              </p:cNvPr>
              <p:cNvSpPr/>
              <p:nvPr/>
            </p:nvSpPr>
            <p:spPr>
              <a:xfrm>
                <a:off x="1352735" y="2756967"/>
                <a:ext cx="2438400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F640E229-24F7-408E-B4EF-3FA8DC553928}"/>
                  </a:ext>
                </a:extLst>
              </p:cNvPr>
              <p:cNvSpPr/>
              <p:nvPr/>
            </p:nvSpPr>
            <p:spPr>
              <a:xfrm>
                <a:off x="5113756" y="2680633"/>
                <a:ext cx="1072571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2223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A2528-A28E-C137-9FAE-78C6CD95C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important theory about auto resonance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29083-93C4-DE0B-ABEF-77AB91C70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Nonlinear Resonances, pendulum system , Page 294</a:t>
            </a:r>
          </a:p>
          <a:p>
            <a:r>
              <a:rPr lang="de-DE" dirty="0"/>
              <a:t>J. Fajans, L. Friedland, Am. J. Phys. </a:t>
            </a:r>
            <a:r>
              <a:rPr lang="de-DE"/>
              <a:t>69, 1096 (2001)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1789</TotalTime>
  <Words>674</Words>
  <Application>Microsoft Office PowerPoint</Application>
  <PresentationFormat>Widescreen</PresentationFormat>
  <Paragraphs>100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Aptos</vt:lpstr>
      <vt:lpstr>Aptos Display</vt:lpstr>
      <vt:lpstr>DengXian</vt:lpstr>
      <vt:lpstr>DengXian</vt:lpstr>
      <vt:lpstr>Arial</vt:lpstr>
      <vt:lpstr>Calibri</vt:lpstr>
      <vt:lpstr>Cambria Math</vt:lpstr>
      <vt:lpstr>Times New Roman</vt:lpstr>
      <vt:lpstr>Office Theme</vt:lpstr>
      <vt:lpstr>Trapping analysis of a magnetic electron by a circularly polarized electromagnetic wave in static electric field </vt:lpstr>
      <vt:lpstr>Introduction section</vt:lpstr>
      <vt:lpstr>Pseudo-potential model for wave-electron interaction</vt:lpstr>
      <vt:lpstr>Trapping in anomalous doppler resonance (g = 1)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Some important theory about auto resonance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Trapping analysis of a magnetic electron by a circularly polarized electromagnetic wave in static electric field </dc:title>
  <dc:creator>Xinhang Xu</dc:creator>
  <cp:lastModifiedBy>Xinhang Xu</cp:lastModifiedBy>
  <cp:revision>20</cp:revision>
  <dcterms:created xsi:type="dcterms:W3CDTF">2025-12-01T07:33:48Z</dcterms:created>
  <dcterms:modified xsi:type="dcterms:W3CDTF">2025-12-12T10:34:02Z</dcterms:modified>
</cp:coreProperties>
</file>