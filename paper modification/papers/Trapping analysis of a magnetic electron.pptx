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58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8" r:id="rId13"/>
    <p:sldId id="270" r:id="rId14"/>
    <p:sldId id="272" r:id="rId15"/>
    <p:sldId id="260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2938" autoAdjust="0"/>
  </p:normalViewPr>
  <p:slideViewPr>
    <p:cSldViewPr snapToGrid="0">
      <p:cViewPr varScale="1">
        <p:scale>
          <a:sx n="119" d="100"/>
          <a:sy n="119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66CA3-484B-459C-B714-8284D0EE9C0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D190F-9B1C-4A68-806E-4A90C8AF1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7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D190F-9B1C-4A68-806E-4A90C8AF15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9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洛伦兹因子增加，电子回旋频率减小，平行速度增加以保持共振频率匹配，同时质量增大导致垂直方向速度下降。 但是为什么相对论能量在</a:t>
            </a:r>
            <a:r>
              <a:rPr lang="en-US" altLang="zh-CN" dirty="0"/>
              <a:t>400tau_ce </a:t>
            </a:r>
            <a:r>
              <a:rPr lang="zh-CN" altLang="en-US" dirty="0"/>
              <a:t>后下降</a:t>
            </a:r>
            <a:r>
              <a:rPr lang="en-US" altLang="zh-CN" dirty="0"/>
              <a:t>?</a:t>
            </a:r>
            <a:r>
              <a:rPr lang="zh-CN" altLang="en-US" dirty="0"/>
              <a:t>波在吸收和释放中震荡。</a:t>
            </a:r>
            <a:endParaRPr lang="en-US" dirty="0"/>
          </a:p>
          <a:p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D190F-9B1C-4A68-806E-4A90C8AF15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98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ED6C-C3A6-F792-84AA-CA26A24B3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A3242-7BDD-E9F9-9EE4-4193DBAEA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CC64D-4948-E348-733C-02350ABC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4B17E-2773-F27F-EAD9-1B0317E5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0AB18-687A-F202-937E-F33B7C21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57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D8C04-172F-43F8-C284-219F02C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5F901-4978-631A-0389-2896B2683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39248-1076-83B0-21AC-EB7F0496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7B04E-0EB9-9BA7-14D3-5B6E34C4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9AB22-1B76-FEC0-3F0A-B54BA743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5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D5DD-8238-8E37-6FCB-59FFECB0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9135E-6C83-CBB0-3E8A-03F9BA685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CE115-2CED-5113-0D28-64662CA8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963B-51F7-6282-930A-8122707D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BA706-A4F1-C523-51D8-FDD5E02B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30DF9-AB7C-6473-3FE1-9F2C88EF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E0DE0-0229-B7A9-EA12-7464959AB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1C5BA-0BD1-6617-0512-3D76CA936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2A644-031F-B714-7FB0-A20B788D9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E7EEA-005C-0DBD-590D-53530082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EF857-CEFF-1DAA-2ECB-8A34CF66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2C0A-73F2-FAE2-981B-7BD207F2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A6E0-5C6E-A19F-588D-F78EF15F1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21639-5EE4-2337-F77C-2AE3989BF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658B11-02B0-A84A-C9DA-987EF7E8E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E25B8D-BBB0-62DE-A67E-6D42F6102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7376A-D88B-F97E-EAF1-789B5900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5ED8D-3669-C211-6D69-19336DBB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06423-80C9-C320-0761-6C2C911E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3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6C8F-18B1-B292-920A-FEB6DC10C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61482-0FBC-AC2B-DAE5-9E642EE1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F61112-54A2-6027-634F-7F33FE77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A6771-8684-2299-9477-8C10B1109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8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83396F-639B-E663-5E04-541524998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2FBFA-35C1-1DC8-37AE-8299CE551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F4DA4-D193-0B20-A03F-75814504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1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27F8-6952-FA1D-9438-A28A388F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5E7CE-F4A6-A1EE-9B49-B7EA61B82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70278-9911-2C97-873D-E1E03001C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BB0C1-8924-12A1-69A5-5B28F36D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1EAE5-90CD-7659-94CD-D0ADF01A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723C3-D4C7-75C7-E7A9-729673D6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1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DD88-144D-8260-ADC3-17D2103B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B8533A-5880-B051-FFDA-DB18DDFEC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F29E4-7DE8-3F38-795B-BA068042E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E83E7-BD5C-AFC7-F003-66ABFC54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5B824-0B73-8A0D-34A9-0FF79171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F6CF8-6A56-CC90-95A7-F8667247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1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8711-8EFF-609C-13E8-9506C484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E6C1A-0E9A-3427-BF16-3F25C7B81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35294-BF47-3E12-F6A3-1AA2F684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60183-A444-A163-CB35-DBCD2BE8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805BB-32DA-CF07-DF8B-18B6181D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6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84312-1426-8C58-6F2D-37A480981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B9151-69BF-1C30-7465-F76D84019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B88EE-8BE2-6792-AE50-EF00C5D7B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0800-D1B5-006B-0354-EA92D802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509AC-DB47-31D7-FC5A-1011E9EB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4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42FBF2-D41C-F9C5-99EA-3C079FE8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2B876-150C-4EE9-75A5-19CE6A85E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14CEA-3098-BC05-3C33-785BC4A0E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44C63-7FDE-4D31-B4BB-7754D5A2771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10FE6-CD34-7D62-AE29-FC876A360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01E7F-5543-7919-6A87-802415A5A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1686C-2DAA-4CE9-B397-9C91AA45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8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6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10" Type="http://schemas.openxmlformats.org/officeDocument/2006/relationships/image" Target="../media/image30.png"/><Relationship Id="rId4" Type="http://schemas.openxmlformats.org/officeDocument/2006/relationships/image" Target="../media/image8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0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11" Type="http://schemas.openxmlformats.org/officeDocument/2006/relationships/image" Target="../media/image34.png"/><Relationship Id="rId5" Type="http://schemas.openxmlformats.org/officeDocument/2006/relationships/image" Target="../media/image250.png"/><Relationship Id="rId10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C61D-60DA-0BDD-B056-AD9954FBB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777663" cy="23876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Trapping analysis of a magnetic electron by a circularly polarized electromagnetic wave in static electric field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3F5DC-325D-22B6-764D-FC3ECC06C7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11/30/2025</a:t>
            </a:r>
          </a:p>
        </p:txBody>
      </p:sp>
    </p:spTree>
    <p:extLst>
      <p:ext uri="{BB962C8B-B14F-4D97-AF65-F5344CB8AC3E}">
        <p14:creationId xmlns:p14="http://schemas.microsoft.com/office/powerpoint/2010/main" val="97023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C7FB-829E-703B-FA87-3BFBB04D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957BE-5E20-3275-7050-CBCD56C43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48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Acceleration mechanisms </a:t>
            </a:r>
          </a:p>
          <a:p>
            <a:r>
              <a:rPr lang="en-US" dirty="0" err="1"/>
              <a:t>Autoresonance</a:t>
            </a:r>
            <a:endParaRPr lang="en-US" dirty="0"/>
          </a:p>
          <a:p>
            <a:r>
              <a:rPr lang="en-US" dirty="0" err="1"/>
              <a:t>Betatron</a:t>
            </a:r>
            <a:r>
              <a:rPr lang="en-US" dirty="0"/>
              <a:t> resonance</a:t>
            </a:r>
          </a:p>
          <a:p>
            <a:r>
              <a:rPr lang="en-US" dirty="0"/>
              <a:t>Ponderomotive-force-driven acceleration</a:t>
            </a:r>
          </a:p>
          <a:p>
            <a:r>
              <a:rPr lang="en-US" dirty="0"/>
              <a:t>Landau resonant</a:t>
            </a:r>
          </a:p>
          <a:p>
            <a:pPr marL="0" indent="0">
              <a:buNone/>
            </a:pPr>
            <a:r>
              <a:rPr lang="en-US" dirty="0"/>
              <a:t>Trapping  mechanisms </a:t>
            </a:r>
          </a:p>
          <a:p>
            <a:r>
              <a:rPr lang="en-US" dirty="0"/>
              <a:t>optical tweezers </a:t>
            </a:r>
          </a:p>
          <a:p>
            <a:r>
              <a:rPr lang="en-US" dirty="0"/>
              <a:t>ponderomotive potential wells (generated by the spatial interference patterns of laser beats 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6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DEB5-AABB-82A3-2B9D-3FB9A81B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Pseudo-potential model for wave-electron interaction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759F9-C1B7-9855-DE8E-67F8B6E7D3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i="1" dirty="0"/>
                  <a:t>1</a:t>
                </a:r>
                <a:r>
                  <a:rPr lang="en-US" altLang="zh-CN" i="1" dirty="0"/>
                  <a:t>-10 </a:t>
                </a:r>
                <a:r>
                  <a:rPr lang="zh-CN" altLang="en-US" i="1" dirty="0"/>
                  <a:t>页，通过</a:t>
                </a:r>
                <a:endParaRPr lang="en-US" altLang="zh-C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kz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ωt</m:t>
                              </m:r>
                            </m:e>
                          </m:d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hlinkClick r:id="" action="ppaction://noaction"/>
                            </a:rPr>
                            <m:t>𝑔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ŷ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kz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ωt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/>
              </a:p>
              <a:p>
                <a:pPr marL="0" indent="0">
                  <a:buNone/>
                </a:pPr>
                <a:r>
                  <a:rPr lang="zh-CN" altLang="en-US" i="1" dirty="0"/>
                  <a:t>得出以下方程：</a:t>
                </a:r>
                <a:endParaRPr lang="en-US" i="1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ς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ξ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⊥0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′2</m:t>
                            </m:r>
                          </m:sup>
                        </m:sSup>
                      </m:e>
                    </m:d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       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Initial condition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𝜍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zh-CN" altLang="en-US" dirty="0"/>
                  <a:t>其中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ωn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⊥0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Ω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zh-CN" altLang="en-US" dirty="0"/>
                  <a:t>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Ω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ς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Ω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n=ck/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, LCP ,g = 1 ; RCP , g = -1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相速度</m:t>
                    </m:r>
                  </m:oMath>
                </a14:m>
                <a:r>
                  <a:rPr lang="zh-CN" altLang="en-US" dirty="0"/>
                  <a:t>洛伦兹因子</a:t>
                </a:r>
                <a:r>
                  <a:rPr lang="en-US" altLang="zh-CN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zh-CN" altLang="en-US" dirty="0"/>
                  <a:t>相速度相对静止空间下洛伦兹因子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759F9-C1B7-9855-DE8E-67F8B6E7D3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Right 3">
            <a:extLst>
              <a:ext uri="{FF2B5EF4-FFF2-40B4-BE49-F238E27FC236}">
                <a16:creationId xmlns:a16="http://schemas.microsoft.com/office/drawing/2014/main" id="{BB94BD0E-6132-9655-3F0D-42C03D68A41C}"/>
              </a:ext>
            </a:extLst>
          </p:cNvPr>
          <p:cNvSpPr/>
          <p:nvPr/>
        </p:nvSpPr>
        <p:spPr>
          <a:xfrm>
            <a:off x="2444116" y="4367965"/>
            <a:ext cx="1548063" cy="39704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DF5A8-9935-B34C-A258-E12CF124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290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Trapping in anomalous doppler resonance (g =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C1CA58-CC1D-9ED3-55B6-405F0A194178}"/>
                  </a:ext>
                </a:extLst>
              </p:cNvPr>
              <p:cNvSpPr txBox="1"/>
              <p:nvPr/>
            </p:nvSpPr>
            <p:spPr>
              <a:xfrm>
                <a:off x="525745" y="4580329"/>
                <a:ext cx="373193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​ = 2 T, E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= -0.2 V/m, refractive index n = 4 and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=1.1 </m:t>
                    </m:r>
                    <m:r>
                      <m:rPr>
                        <m:sty m:val="p"/>
                      </m:rPr>
                      <a:rPr lang="en-US" sz="1800" b="0" i="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=20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zh-CN" altLang="en-US" dirty="0"/>
                  <a:t>左旋波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C1CA58-CC1D-9ED3-55B6-405F0A194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45" y="4580329"/>
                <a:ext cx="3731930" cy="923330"/>
              </a:xfrm>
              <a:prstGeom prst="rect">
                <a:avLst/>
              </a:prstGeom>
              <a:blipFill>
                <a:blip r:embed="rId2"/>
                <a:stretch>
                  <a:fillRect l="-1307" t="-3289" r="-277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6378EFE-888A-8685-E1B9-96C12182EB07}"/>
              </a:ext>
            </a:extLst>
          </p:cNvPr>
          <p:cNvSpPr txBox="1"/>
          <p:nvPr/>
        </p:nvSpPr>
        <p:spPr>
          <a:xfrm>
            <a:off x="187393" y="904247"/>
            <a:ext cx="2844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Unstrapping situation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CFD5EF-7B66-EA15-39D0-C168516540EB}"/>
              </a:ext>
            </a:extLst>
          </p:cNvPr>
          <p:cNvGrpSpPr/>
          <p:nvPr/>
        </p:nvGrpSpPr>
        <p:grpSpPr>
          <a:xfrm>
            <a:off x="4831551" y="904247"/>
            <a:ext cx="6527058" cy="5899461"/>
            <a:chOff x="4687915" y="1021042"/>
            <a:chExt cx="6527058" cy="589946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ABA76B-0D12-F9A4-1B3C-243AACAD84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66" t="4527" r="6122"/>
            <a:stretch/>
          </p:blipFill>
          <p:spPr bwMode="auto">
            <a:xfrm>
              <a:off x="4687915" y="1021042"/>
              <a:ext cx="5900837" cy="589946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510EF89-4225-7CE4-8D99-779ADC2DD57C}"/>
                </a:ext>
              </a:extLst>
            </p:cNvPr>
            <p:cNvGrpSpPr/>
            <p:nvPr/>
          </p:nvGrpSpPr>
          <p:grpSpPr>
            <a:xfrm>
              <a:off x="10338529" y="4919831"/>
              <a:ext cx="876444" cy="849562"/>
              <a:chOff x="10253688" y="4910404"/>
              <a:chExt cx="876444" cy="84956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EE8EB5-AA4D-2085-ED88-816151C17834}"/>
                  </a:ext>
                </a:extLst>
              </p:cNvPr>
              <p:cNvSpPr txBox="1"/>
              <p:nvPr/>
            </p:nvSpPr>
            <p:spPr>
              <a:xfrm>
                <a:off x="10503911" y="4910404"/>
                <a:ext cx="541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  <a:r>
                  <a:rPr lang="en-US" baseline="-25000" dirty="0"/>
                  <a:t>0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698A2788-56C2-B870-ED6A-43D5E74898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253688" y="5069947"/>
                <a:ext cx="250223" cy="338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A42B9A0-6888-64BC-4846-0C3FDF91ADA9}"/>
                      </a:ext>
                    </a:extLst>
                  </p:cNvPr>
                  <p:cNvSpPr txBox="1"/>
                  <p:nvPr/>
                </p:nvSpPr>
                <p:spPr>
                  <a:xfrm>
                    <a:off x="10588752" y="5390634"/>
                    <a:ext cx="54138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aseline="-250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5A42B9A0-6888-64BC-4846-0C3FDF91AD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88752" y="5390634"/>
                    <a:ext cx="54138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49438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E3DBADC5-00E4-0049-FF1C-0909017DC4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272216" y="5316702"/>
                <a:ext cx="386600" cy="2134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8DD7B9C-443A-7987-1DA3-0C9E51C66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45" y="1396763"/>
            <a:ext cx="3018875" cy="31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6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B2AB36-0E56-48E4-9DE6-88493540E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505" y="411101"/>
            <a:ext cx="6438420" cy="6353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FB4E5-245F-7546-EE05-CB1F9F3B17C0}"/>
                  </a:ext>
                </a:extLst>
              </p:cNvPr>
              <p:cNvSpPr txBox="1"/>
              <p:nvPr/>
            </p:nvSpPr>
            <p:spPr>
              <a:xfrm>
                <a:off x="379692" y="2516536"/>
                <a:ext cx="44188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Same as Fig. (1) except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= 22 V/m.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8FB4E5-245F-7546-EE05-CB1F9F3B1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92" y="2516536"/>
                <a:ext cx="4418813" cy="369332"/>
              </a:xfrm>
              <a:prstGeom prst="rect">
                <a:avLst/>
              </a:prstGeom>
              <a:blipFill>
                <a:blip r:embed="rId3"/>
                <a:stretch>
                  <a:fillRect l="-1103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DAABDFF-5EC2-9233-A4A2-07F08FCEB365}"/>
              </a:ext>
            </a:extLst>
          </p:cNvPr>
          <p:cNvSpPr txBox="1"/>
          <p:nvPr/>
        </p:nvSpPr>
        <p:spPr>
          <a:xfrm>
            <a:off x="664067" y="1375639"/>
            <a:ext cx="28446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Trapping situation</a:t>
            </a:r>
            <a:endParaRPr lang="en-US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90BA1B8-5309-7D53-F2D8-59871A069A14}"/>
              </a:ext>
            </a:extLst>
          </p:cNvPr>
          <p:cNvSpPr txBox="1">
            <a:spLocks/>
          </p:cNvSpPr>
          <p:nvPr/>
        </p:nvSpPr>
        <p:spPr>
          <a:xfrm>
            <a:off x="160256" y="93233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Trapping in anomalous doppler resonance (g = 1)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96906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D15D3-915E-6387-000B-B0C10ED72A14}"/>
              </a:ext>
            </a:extLst>
          </p:cNvPr>
          <p:cNvSpPr txBox="1"/>
          <p:nvPr/>
        </p:nvSpPr>
        <p:spPr>
          <a:xfrm>
            <a:off x="322868" y="1075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Trapping in normal doppler resonance (g = -1)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94F96-1598-DDCE-BE61-69857825585A}"/>
              </a:ext>
            </a:extLst>
          </p:cNvPr>
          <p:cNvSpPr txBox="1"/>
          <p:nvPr/>
        </p:nvSpPr>
        <p:spPr>
          <a:xfrm>
            <a:off x="685799" y="632299"/>
            <a:ext cx="561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domain structures (TDS)</a:t>
            </a:r>
            <a:r>
              <a:rPr lang="en-US" baseline="30000" dirty="0"/>
              <a:t>*</a:t>
            </a:r>
            <a:r>
              <a:rPr lang="en-US" dirty="0"/>
              <a:t> in magnetosphere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4AF76-4263-A964-EB98-A01A9F09A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91372"/>
            <a:ext cx="6187201" cy="20761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633BDAB-B46B-4E1C-A68B-9EEB11589FAD}"/>
              </a:ext>
            </a:extLst>
          </p:cNvPr>
          <p:cNvGrpSpPr/>
          <p:nvPr/>
        </p:nvGrpSpPr>
        <p:grpSpPr>
          <a:xfrm>
            <a:off x="4412339" y="980632"/>
            <a:ext cx="7495750" cy="3346127"/>
            <a:chOff x="3655542" y="1025188"/>
            <a:chExt cx="7495750" cy="334612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29DB891-0ADB-4FCB-B3FB-A3FF41D53A30}"/>
                </a:ext>
              </a:extLst>
            </p:cNvPr>
            <p:cNvGrpSpPr/>
            <p:nvPr/>
          </p:nvGrpSpPr>
          <p:grpSpPr>
            <a:xfrm>
              <a:off x="3655542" y="1264682"/>
              <a:ext cx="7495750" cy="3106633"/>
              <a:chOff x="3655542" y="1264682"/>
              <a:chExt cx="7495750" cy="310663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9195A3F-98C5-50D0-245E-6EED24A1F1CE}"/>
                  </a:ext>
                </a:extLst>
              </p:cNvPr>
              <p:cNvGrpSpPr/>
              <p:nvPr/>
            </p:nvGrpSpPr>
            <p:grpSpPr>
              <a:xfrm>
                <a:off x="7540809" y="1264682"/>
                <a:ext cx="3610483" cy="3106633"/>
                <a:chOff x="1256919" y="1368417"/>
                <a:chExt cx="3610483" cy="3106633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7D180345-15C3-0C8C-1E46-99D8CD8212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56919" y="1368417"/>
                  <a:ext cx="3018875" cy="3106633"/>
                </a:xfrm>
                <a:prstGeom prst="rect">
                  <a:avLst/>
                </a:prstGeom>
              </p:spPr>
            </p:pic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795C48A-A1E6-192E-00B3-3E9FB3803EFC}"/>
                    </a:ext>
                  </a:extLst>
                </p:cNvPr>
                <p:cNvSpPr/>
                <p:nvPr/>
              </p:nvSpPr>
              <p:spPr>
                <a:xfrm>
                  <a:off x="3389260" y="2028825"/>
                  <a:ext cx="240384" cy="1590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C84D1184-9819-B552-7420-C4625AA81A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97751" y="2122535"/>
                  <a:ext cx="23011" cy="1318183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7A928216-7FA6-ADF9-A360-52191DE995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20762" y="1659493"/>
                      <a:ext cx="124664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oMath>
                        </m:oMathPara>
                      </a14:m>
                      <a:endParaRPr lang="en-US" b="1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7A928216-7FA6-ADF9-A360-52191DE995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20762" y="1659493"/>
                      <a:ext cx="1246640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780476-3BB2-0BAA-9C00-431DF03A8BDE}"/>
                  </a:ext>
                </a:extLst>
              </p:cNvPr>
              <p:cNvSpPr/>
              <p:nvPr/>
            </p:nvSpPr>
            <p:spPr>
              <a:xfrm>
                <a:off x="3834730" y="2263881"/>
                <a:ext cx="513347" cy="1209675"/>
              </a:xfrm>
              <a:prstGeom prst="rect">
                <a:avLst/>
              </a:prstGeom>
              <a:solidFill>
                <a:schemeClr val="accent1">
                  <a:alpha val="1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D37A0AD-E3EA-F2E3-F6CD-A336C1E7C04F}"/>
                  </a:ext>
                </a:extLst>
              </p:cNvPr>
              <p:cNvCxnSpPr/>
              <p:nvPr/>
            </p:nvCxnSpPr>
            <p:spPr>
              <a:xfrm>
                <a:off x="3655542" y="2062576"/>
                <a:ext cx="154305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/>
                  <p:nvPr/>
                </p:nvSpPr>
                <p:spPr>
                  <a:xfrm>
                    <a:off x="4736630" y="1718343"/>
                    <a:ext cx="4572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6630" y="1718343"/>
                    <a:ext cx="45720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7C76B5-1539-A5DD-599D-723CDE369D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5542" y="1751302"/>
                <a:ext cx="1538288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/>
                  <p:nvPr/>
                </p:nvSpPr>
                <p:spPr>
                  <a:xfrm>
                    <a:off x="4803305" y="1381970"/>
                    <a:ext cx="3238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3305" y="1381970"/>
                    <a:ext cx="32385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88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DA8B75C-3968-8395-EF95-B9F63CD8F3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5542" y="1381970"/>
                <a:ext cx="1538288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/>
                <p:nvPr/>
              </p:nvSpPr>
              <p:spPr>
                <a:xfrm>
                  <a:off x="4803305" y="1025188"/>
                  <a:ext cx="3238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3305" y="1025188"/>
                  <a:ext cx="323850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07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4AD39A0-BCAA-19BC-714D-E48F373ED305}"/>
              </a:ext>
            </a:extLst>
          </p:cNvPr>
          <p:cNvSpPr txBox="1"/>
          <p:nvPr/>
        </p:nvSpPr>
        <p:spPr>
          <a:xfrm>
            <a:off x="1293905" y="4281522"/>
            <a:ext cx="184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sz="1800" baseline="-250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TDS</a:t>
            </a:r>
            <a:r>
              <a:rPr lang="en-US" sz="18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/c</a:t>
            </a:r>
            <a:r>
              <a:rPr lang="en-US" sz="180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sz="18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-0.0333 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B8A970-1145-0953-9A91-1560650FA7A7}"/>
              </a:ext>
            </a:extLst>
          </p:cNvPr>
          <p:cNvSpPr txBox="1"/>
          <p:nvPr/>
        </p:nvSpPr>
        <p:spPr>
          <a:xfrm>
            <a:off x="1293905" y="4692257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sz="1800" baseline="-250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sz="180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sz="180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64 nT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28DC3F-1053-B6FF-3306-D89BF7B53F5A}"/>
              </a:ext>
            </a:extLst>
          </p:cNvPr>
          <p:cNvSpPr txBox="1"/>
          <p:nvPr/>
        </p:nvSpPr>
        <p:spPr>
          <a:xfrm>
            <a:off x="1293905" y="5133951"/>
            <a:ext cx="1762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sz="1800" dirty="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100 mV/m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F72AA2-456C-5824-EFCC-F375D2193374}"/>
              </a:ext>
            </a:extLst>
          </p:cNvPr>
          <p:cNvSpPr txBox="1"/>
          <p:nvPr/>
        </p:nvSpPr>
        <p:spPr>
          <a:xfrm>
            <a:off x="1293905" y="5595402"/>
            <a:ext cx="1533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sz="1800" dirty="0">
                <a:effectLst/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0.15 cm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-3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31EC93-D96D-BAD8-30BD-F504DE32D9E7}"/>
              </a:ext>
            </a:extLst>
          </p:cNvPr>
          <p:cNvSpPr txBox="1"/>
          <p:nvPr/>
        </p:nvSpPr>
        <p:spPr>
          <a:xfrm>
            <a:off x="6707394" y="5005437"/>
            <a:ext cx="4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NDE resonant speed = V</a:t>
            </a:r>
            <a:r>
              <a:rPr lang="en-US" baseline="-25000" dirty="0"/>
              <a:t>TDS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73306-1BE6-40DB-26B9-DFBA6B07CE46}"/>
              </a:ext>
            </a:extLst>
          </p:cNvPr>
          <p:cNvSpPr txBox="1"/>
          <p:nvPr/>
        </p:nvSpPr>
        <p:spPr>
          <a:xfrm>
            <a:off x="4497755" y="4745717"/>
            <a:ext cx="1554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ω/Ω = −0.845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1FFA01-B524-0C17-81BE-1DAA9515460B}"/>
              </a:ext>
            </a:extLst>
          </p:cNvPr>
          <p:cNvSpPr txBox="1"/>
          <p:nvPr/>
        </p:nvSpPr>
        <p:spPr>
          <a:xfrm>
            <a:off x="3272414" y="5175831"/>
            <a:ext cx="2928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refractive index n = 5.4655 </a:t>
            </a:r>
            <a:endParaRPr lang="en-US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260EDF4-3D7D-6494-ADEE-99F065BAF3F2}"/>
              </a:ext>
            </a:extLst>
          </p:cNvPr>
          <p:cNvSpPr/>
          <p:nvPr/>
        </p:nvSpPr>
        <p:spPr>
          <a:xfrm>
            <a:off x="6301139" y="5056092"/>
            <a:ext cx="322284" cy="2454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Brace 37">
            <a:extLst>
              <a:ext uri="{FF2B5EF4-FFF2-40B4-BE49-F238E27FC236}">
                <a16:creationId xmlns:a16="http://schemas.microsoft.com/office/drawing/2014/main" id="{ED069CF6-60F8-A831-A488-474F7AD5728C}"/>
              </a:ext>
            </a:extLst>
          </p:cNvPr>
          <p:cNvSpPr/>
          <p:nvPr/>
        </p:nvSpPr>
        <p:spPr>
          <a:xfrm>
            <a:off x="5980205" y="4876923"/>
            <a:ext cx="193435" cy="6263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07CC6A-A812-4B44-B4B0-DDFF1C3A2CF4}"/>
              </a:ext>
            </a:extLst>
          </p:cNvPr>
          <p:cNvSpPr/>
          <p:nvPr/>
        </p:nvSpPr>
        <p:spPr>
          <a:xfrm>
            <a:off x="5928559" y="630410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*Direct observation of electron distributions inside millisecond duration electron holes Physical Review Letters 121 135102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76A3B7-F873-499C-AFF0-24B656663BB6}"/>
              </a:ext>
            </a:extLst>
          </p:cNvPr>
          <p:cNvSpPr/>
          <p:nvPr/>
        </p:nvSpPr>
        <p:spPr>
          <a:xfrm>
            <a:off x="1371600" y="2753862"/>
            <a:ext cx="2438400" cy="5831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640E229-24F7-408E-B4EF-3FA8DC553928}"/>
              </a:ext>
            </a:extLst>
          </p:cNvPr>
          <p:cNvSpPr/>
          <p:nvPr/>
        </p:nvSpPr>
        <p:spPr>
          <a:xfrm>
            <a:off x="5113756" y="2680633"/>
            <a:ext cx="1072571" cy="5831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2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9D954D-16AC-942B-01AF-9E3C8CECD547}"/>
              </a:ext>
            </a:extLst>
          </p:cNvPr>
          <p:cNvGrpSpPr/>
          <p:nvPr/>
        </p:nvGrpSpPr>
        <p:grpSpPr>
          <a:xfrm>
            <a:off x="319637" y="407735"/>
            <a:ext cx="3018875" cy="3106633"/>
            <a:chOff x="1192404" y="1360627"/>
            <a:chExt cx="3018875" cy="31066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27D86B1-14E3-7CCB-C703-9D6D93907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2404" y="1360627"/>
              <a:ext cx="3018875" cy="310663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2BFBAF-97A6-A65A-319C-F3A73B066761}"/>
                </a:ext>
              </a:extLst>
            </p:cNvPr>
            <p:cNvSpPr/>
            <p:nvPr/>
          </p:nvSpPr>
          <p:spPr>
            <a:xfrm>
              <a:off x="3389260" y="2028825"/>
              <a:ext cx="240384" cy="1590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9ECB99D-3099-1FDA-0265-8DF4CAE851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9452" y="2028825"/>
              <a:ext cx="0" cy="1514475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BCB1F6D-81A4-361A-4855-8F1C0DEFFD2D}"/>
                    </a:ext>
                  </a:extLst>
                </p:cNvPr>
                <p:cNvSpPr txBox="1"/>
                <p:nvPr/>
              </p:nvSpPr>
              <p:spPr>
                <a:xfrm>
                  <a:off x="3620762" y="1659493"/>
                  <a:ext cx="3384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A928216-7FA6-ADF9-A360-52191DE99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0762" y="1659493"/>
                  <a:ext cx="33849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43022F0-40D6-32DA-BEA3-CEBEBB5526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997" b="5296"/>
          <a:stretch/>
        </p:blipFill>
        <p:spPr bwMode="auto">
          <a:xfrm>
            <a:off x="5185235" y="0"/>
            <a:ext cx="5942965" cy="6702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2E7CFD-E739-850F-164F-4E60874CD3DB}"/>
              </a:ext>
            </a:extLst>
          </p:cNvPr>
          <p:cNvSpPr txBox="1"/>
          <p:nvPr/>
        </p:nvSpPr>
        <p:spPr>
          <a:xfrm>
            <a:off x="885825" y="3663482"/>
            <a:ext cx="3657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E0 = 100 mV/m, </a:t>
            </a:r>
          </a:p>
          <a:p>
            <a:r>
              <a:rPr lang="en-US" dirty="0" err="1"/>
              <a:t>Ew</a:t>
            </a:r>
            <a:r>
              <a:rPr lang="en-US" dirty="0"/>
              <a:t> = 0.3 V/m, </a:t>
            </a:r>
          </a:p>
          <a:p>
            <a:r>
              <a:rPr lang="en-US" dirty="0"/>
              <a:t>B0 = 64 </a:t>
            </a:r>
            <a:r>
              <a:rPr lang="en-US" dirty="0" err="1"/>
              <a:t>nT</a:t>
            </a:r>
            <a:r>
              <a:rPr lang="en-US" dirty="0"/>
              <a:t>,</a:t>
            </a:r>
          </a:p>
          <a:p>
            <a:r>
              <a:rPr lang="el-GR" dirty="0"/>
              <a:t>ω/Ω = -0.845, </a:t>
            </a:r>
            <a:endParaRPr lang="en-US" dirty="0"/>
          </a:p>
          <a:p>
            <a:r>
              <a:rPr lang="en-US" dirty="0"/>
              <a:t>g = -1,</a:t>
            </a:r>
          </a:p>
          <a:p>
            <a:r>
              <a:rPr lang="en-US" dirty="0"/>
              <a:t> initial </a:t>
            </a:r>
            <a:r>
              <a:rPr lang="el-GR" dirty="0"/>
              <a:t>β_</a:t>
            </a:r>
            <a:r>
              <a:rPr lang="en-US" dirty="0"/>
              <a:t>z= 0.2 and </a:t>
            </a:r>
            <a:r>
              <a:rPr lang="el-GR" dirty="0"/>
              <a:t>β_⊥=0, ϕ0= 0,</a:t>
            </a:r>
            <a:endParaRPr lang="en-US" dirty="0"/>
          </a:p>
          <a:p>
            <a:r>
              <a:rPr lang="el-GR" dirty="0"/>
              <a:t> </a:t>
            </a:r>
            <a:r>
              <a:rPr lang="en-US" dirty="0"/>
              <a:t>n = 5.4655. </a:t>
            </a:r>
          </a:p>
        </p:txBody>
      </p:sp>
    </p:spTree>
    <p:extLst>
      <p:ext uri="{BB962C8B-B14F-4D97-AF65-F5344CB8AC3E}">
        <p14:creationId xmlns:p14="http://schemas.microsoft.com/office/powerpoint/2010/main" val="415507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68A1C-9434-ED4D-0CB6-C4828AD828F6}"/>
              </a:ext>
            </a:extLst>
          </p:cNvPr>
          <p:cNvSpPr txBox="1"/>
          <p:nvPr/>
        </p:nvSpPr>
        <p:spPr>
          <a:xfrm>
            <a:off x="266699" y="95250"/>
            <a:ext cx="58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Trapping threshold</a:t>
            </a:r>
            <a:r>
              <a:rPr lang="zh-CN" altLang="en-US" dirty="0"/>
              <a:t>：</a:t>
            </a:r>
            <a:r>
              <a:rPr lang="en-US" altLang="zh-CN" dirty="0"/>
              <a:t>Anomalous doppler effect </a:t>
            </a:r>
            <a:r>
              <a:rPr 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2539AB2-4BD8-4B0D-BB1A-E4B0FE2F7308}"/>
              </a:ext>
            </a:extLst>
          </p:cNvPr>
          <p:cNvGrpSpPr/>
          <p:nvPr/>
        </p:nvGrpSpPr>
        <p:grpSpPr>
          <a:xfrm>
            <a:off x="266699" y="1025265"/>
            <a:ext cx="11327021" cy="3005742"/>
            <a:chOff x="-1064559" y="1932525"/>
            <a:chExt cx="11228294" cy="30057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576731A-C7D7-99FB-5967-651B79AB24B4}"/>
                    </a:ext>
                  </a:extLst>
                </p:cNvPr>
                <p:cNvSpPr txBox="1"/>
                <p:nvPr/>
              </p:nvSpPr>
              <p:spPr>
                <a:xfrm>
                  <a:off x="-32499" y="1932525"/>
                  <a:ext cx="8048625" cy="7246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ς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∫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𝜅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⊥0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576731A-C7D7-99FB-5967-651B79AB2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499" y="1932525"/>
                  <a:ext cx="8048625" cy="72468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CC8282-0131-2AF4-514B-D899DBF8B73B}"/>
                    </a:ext>
                  </a:extLst>
                </p:cNvPr>
                <p:cNvSpPr txBox="1"/>
                <p:nvPr/>
              </p:nvSpPr>
              <p:spPr>
                <a:xfrm>
                  <a:off x="-1064559" y="3093492"/>
                  <a:ext cx="6096000" cy="6653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</m:d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</m:sSub>
                        <m:r>
                          <a:rPr lang="en-US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𝜍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5CC8282-0131-2AF4-514B-D899DBF8B7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64559" y="3093492"/>
                  <a:ext cx="6096000" cy="6653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4757D38-A8EF-6FC3-9A55-94F9BDF481AC}"/>
                    </a:ext>
                  </a:extLst>
                </p:cNvPr>
                <p:cNvSpPr txBox="1"/>
                <p:nvPr/>
              </p:nvSpPr>
              <p:spPr>
                <a:xfrm>
                  <a:off x="3629585" y="3210780"/>
                  <a:ext cx="6534150" cy="5631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indent="182880">
                    <a:lnSpc>
                      <a:spcPct val="107000"/>
                    </a:lnSpc>
                    <a:spcAft>
                      <a:spcPts val="800"/>
                    </a:spcAft>
                    <a:buNone/>
                  </a:pPr>
                  <a:r>
                    <a:rPr lang="en-US" sz="1800" dirty="0">
                      <a:solidFill>
                        <a:srgbClr val="000000"/>
                      </a:solidFill>
                      <a:effectLst/>
                      <a:latin typeface="Calibri" panose="020F0502020204030204" pitchFamily="34" charset="0"/>
                      <a:ea typeface="等线" panose="02010600030101010101" pitchFamily="2" charset="-122"/>
                      <a:cs typeface="Times New Roman" panose="02020603050405020304" pitchFamily="18" charset="0"/>
                    </a:rPr>
                    <a:t>Where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s</m:t>
                      </m:r>
                      <m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ωn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⊥0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Ω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4757D38-A8EF-6FC3-9A55-94F9BDF48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585" y="3210780"/>
                  <a:ext cx="6534150" cy="563167"/>
                </a:xfrm>
                <a:prstGeom prst="rect">
                  <a:avLst/>
                </a:prstGeom>
                <a:blipFill>
                  <a:blip r:embed="rId4"/>
                  <a:stretch>
                    <a:fillRect b="-1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D950E81-EDDA-F65A-B837-617964DE52AC}"/>
                    </a:ext>
                  </a:extLst>
                </p:cNvPr>
                <p:cNvSpPr txBox="1"/>
                <p:nvPr/>
              </p:nvSpPr>
              <p:spPr>
                <a:xfrm>
                  <a:off x="462802" y="4141254"/>
                  <a:ext cx="7058025" cy="7970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Initial condition 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⊥0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Domination coefficient :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ς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D950E81-EDDA-F65A-B837-617964DE52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802" y="4141254"/>
                  <a:ext cx="7058025" cy="797013"/>
                </a:xfrm>
                <a:prstGeom prst="rect">
                  <a:avLst/>
                </a:prstGeom>
                <a:blipFill>
                  <a:blip r:embed="rId5"/>
                  <a:stretch>
                    <a:fillRect l="-771" t="-4615" b="-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3FCB421-95E1-0FE9-CC53-D6C429E9C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409" y="1989056"/>
            <a:ext cx="4578493" cy="34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4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ACEB75-4889-4E65-84CA-4A767B90239B}"/>
              </a:ext>
            </a:extLst>
          </p:cNvPr>
          <p:cNvSpPr txBox="1"/>
          <p:nvPr/>
        </p:nvSpPr>
        <p:spPr>
          <a:xfrm>
            <a:off x="266699" y="95250"/>
            <a:ext cx="582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Quantum benchmark</a:t>
            </a:r>
            <a:r>
              <a:rPr lang="zh-CN" altLang="en-US" dirty="0"/>
              <a:t>：</a:t>
            </a:r>
            <a:r>
              <a:rPr lang="en-US" dirty="0"/>
              <a:t> energy transfer ratio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ACD6C1-9438-41D9-8AA3-27D61D0291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14100" y="650048"/>
            <a:ext cx="5829301" cy="4286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0F7B3ED-B987-4373-AE73-38D8EDBD1D8F}"/>
                  </a:ext>
                </a:extLst>
              </p:cNvPr>
              <p:cNvSpPr/>
              <p:nvPr/>
            </p:nvSpPr>
            <p:spPr>
              <a:xfrm>
                <a:off x="748069" y="1338980"/>
                <a:ext cx="1522725" cy="3940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p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0F7B3ED-B987-4373-AE73-38D8EDBD1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69" y="1338980"/>
                <a:ext cx="1522725" cy="394019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D9618CD-2424-4762-BE85-3380E20FCCDA}"/>
                  </a:ext>
                </a:extLst>
              </p:cNvPr>
              <p:cNvSpPr/>
              <p:nvPr/>
            </p:nvSpPr>
            <p:spPr>
              <a:xfrm>
                <a:off x="712892" y="1776187"/>
                <a:ext cx="3361368" cy="7117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D9618CD-2424-4762-BE85-3380E20FC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92" y="1776187"/>
                <a:ext cx="3361368" cy="7117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9EDD3D8-AA09-4AD8-BCD4-3D3612FE2557}"/>
                  </a:ext>
                </a:extLst>
              </p:cNvPr>
              <p:cNvSpPr/>
              <p:nvPr/>
            </p:nvSpPr>
            <p:spPr>
              <a:xfrm>
                <a:off x="715175" y="4056501"/>
                <a:ext cx="3083473" cy="6746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n</m:t>
                          </m:r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v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9EDD3D8-AA09-4AD8-BCD4-3D3612FE25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5" y="4056501"/>
                <a:ext cx="3083473" cy="6746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CA3D10-2B43-4BE8-BF85-5AE81B256493}"/>
                  </a:ext>
                </a:extLst>
              </p:cNvPr>
              <p:cNvSpPr/>
              <p:nvPr/>
            </p:nvSpPr>
            <p:spPr>
              <a:xfrm>
                <a:off x="795134" y="2487920"/>
                <a:ext cx="1475660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CA3D10-2B43-4BE8-BF85-5AE81B2564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4" y="2487920"/>
                <a:ext cx="1475660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CFC0071-7727-4E46-B75B-9C352CD7F6CF}"/>
              </a:ext>
            </a:extLst>
          </p:cNvPr>
          <p:cNvSpPr txBox="1"/>
          <p:nvPr/>
        </p:nvSpPr>
        <p:spPr>
          <a:xfrm>
            <a:off x="748069" y="860747"/>
            <a:ext cx="274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Classical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8CF94-9CD2-4663-BEE0-68BBE9743C41}"/>
              </a:ext>
            </a:extLst>
          </p:cNvPr>
          <p:cNvSpPr txBox="1"/>
          <p:nvPr/>
        </p:nvSpPr>
        <p:spPr>
          <a:xfrm>
            <a:off x="712892" y="3399316"/>
            <a:ext cx="274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Quantum results</a:t>
            </a:r>
          </a:p>
        </p:txBody>
      </p:sp>
    </p:spTree>
    <p:extLst>
      <p:ext uri="{BB962C8B-B14F-4D97-AF65-F5344CB8AC3E}">
        <p14:creationId xmlns:p14="http://schemas.microsoft.com/office/powerpoint/2010/main" val="2526376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F4FD3-30DB-4607-B8AA-5B5E1BA5EFFF}"/>
              </a:ext>
            </a:extLst>
          </p:cNvPr>
          <p:cNvSpPr txBox="1"/>
          <p:nvPr/>
        </p:nvSpPr>
        <p:spPr>
          <a:xfrm>
            <a:off x="259975" y="977153"/>
            <a:ext cx="8068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Discussion 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Trapping phenomenon explanation from momentum conservation and angular conservation </a:t>
            </a:r>
          </a:p>
          <a:p>
            <a:pPr marL="342900" indent="-342900">
              <a:buAutoNum type="arabicPeriod"/>
            </a:pPr>
            <a:r>
              <a:rPr lang="en-US" dirty="0"/>
              <a:t>Potential application in plasma heating and runaway suppression</a:t>
            </a:r>
          </a:p>
          <a:p>
            <a:pPr marL="342900" indent="-342900">
              <a:buAutoNum type="arabicPeriod"/>
            </a:pPr>
            <a:r>
              <a:rPr lang="en-US" dirty="0"/>
              <a:t>Space Plasma Dynamics(particle acceleration, precipitation)</a:t>
            </a:r>
          </a:p>
        </p:txBody>
      </p:sp>
    </p:spTree>
    <p:extLst>
      <p:ext uri="{BB962C8B-B14F-4D97-AF65-F5344CB8AC3E}">
        <p14:creationId xmlns:p14="http://schemas.microsoft.com/office/powerpoint/2010/main" val="1071114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D15D3-915E-6387-000B-B0C10ED72A14}"/>
              </a:ext>
            </a:extLst>
          </p:cNvPr>
          <p:cNvSpPr txBox="1"/>
          <p:nvPr/>
        </p:nvSpPr>
        <p:spPr>
          <a:xfrm>
            <a:off x="322868" y="3947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Trapping in normal doppler resonance (g = -1)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94F96-1598-DDCE-BE61-69857825585A}"/>
              </a:ext>
            </a:extLst>
          </p:cNvPr>
          <p:cNvSpPr txBox="1"/>
          <p:nvPr/>
        </p:nvSpPr>
        <p:spPr>
          <a:xfrm>
            <a:off x="628136" y="521149"/>
            <a:ext cx="561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domain structures (TDS)</a:t>
            </a:r>
            <a:r>
              <a:rPr lang="en-US" baseline="30000" dirty="0"/>
              <a:t>*</a:t>
            </a:r>
            <a:r>
              <a:rPr lang="en-US" dirty="0"/>
              <a:t> in magnetosphere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4AF76-4263-A964-EB98-A01A9F09A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91372"/>
            <a:ext cx="6187201" cy="20761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633BDAB-B46B-4E1C-A68B-9EEB11589FAD}"/>
              </a:ext>
            </a:extLst>
          </p:cNvPr>
          <p:cNvGrpSpPr/>
          <p:nvPr/>
        </p:nvGrpSpPr>
        <p:grpSpPr>
          <a:xfrm>
            <a:off x="4412339" y="980632"/>
            <a:ext cx="6257992" cy="3366339"/>
            <a:chOff x="3655542" y="1025188"/>
            <a:chExt cx="6257992" cy="336633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29DB891-0ADB-4FCB-B3FB-A3FF41D53A30}"/>
                </a:ext>
              </a:extLst>
            </p:cNvPr>
            <p:cNvGrpSpPr/>
            <p:nvPr/>
          </p:nvGrpSpPr>
          <p:grpSpPr>
            <a:xfrm>
              <a:off x="3655542" y="1284894"/>
              <a:ext cx="6257992" cy="3106633"/>
              <a:chOff x="3655542" y="1284894"/>
              <a:chExt cx="6257992" cy="310663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9195A3F-98C5-50D0-245E-6EED24A1F1CE}"/>
                  </a:ext>
                </a:extLst>
              </p:cNvPr>
              <p:cNvGrpSpPr/>
              <p:nvPr/>
            </p:nvGrpSpPr>
            <p:grpSpPr>
              <a:xfrm>
                <a:off x="6819102" y="1284894"/>
                <a:ext cx="3094432" cy="3106633"/>
                <a:chOff x="535212" y="1388629"/>
                <a:chExt cx="3094432" cy="3106633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7D180345-15C3-0C8C-1E46-99D8CD8212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5212" y="1388629"/>
                  <a:ext cx="3018875" cy="3106633"/>
                </a:xfrm>
                <a:prstGeom prst="rect">
                  <a:avLst/>
                </a:prstGeom>
              </p:spPr>
            </p:pic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795C48A-A1E6-192E-00B3-3E9FB3803EFC}"/>
                    </a:ext>
                  </a:extLst>
                </p:cNvPr>
                <p:cNvSpPr/>
                <p:nvPr/>
              </p:nvSpPr>
              <p:spPr>
                <a:xfrm>
                  <a:off x="3389260" y="2028825"/>
                  <a:ext cx="240384" cy="15908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780476-3BB2-0BAA-9C00-431DF03A8BDE}"/>
                  </a:ext>
                </a:extLst>
              </p:cNvPr>
              <p:cNvSpPr/>
              <p:nvPr/>
            </p:nvSpPr>
            <p:spPr>
              <a:xfrm>
                <a:off x="3834730" y="2282297"/>
                <a:ext cx="513347" cy="1191260"/>
              </a:xfrm>
              <a:prstGeom prst="rect">
                <a:avLst/>
              </a:prstGeom>
              <a:solidFill>
                <a:schemeClr val="accent1">
                  <a:alpha val="1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D37A0AD-E3EA-F2E3-F6CD-A336C1E7C04F}"/>
                  </a:ext>
                </a:extLst>
              </p:cNvPr>
              <p:cNvCxnSpPr/>
              <p:nvPr/>
            </p:nvCxnSpPr>
            <p:spPr>
              <a:xfrm>
                <a:off x="3655542" y="2062576"/>
                <a:ext cx="154305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/>
                  <p:nvPr/>
                </p:nvSpPr>
                <p:spPr>
                  <a:xfrm>
                    <a:off x="4736630" y="1718343"/>
                    <a:ext cx="4572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6630" y="1718343"/>
                    <a:ext cx="45720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7C76B5-1539-A5DD-599D-723CDE369D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5542" y="1751302"/>
                <a:ext cx="1538288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/>
                  <p:nvPr/>
                </p:nvSpPr>
                <p:spPr>
                  <a:xfrm>
                    <a:off x="4803305" y="1381970"/>
                    <a:ext cx="3238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3305" y="1381970"/>
                    <a:ext cx="32385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88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DA8B75C-3968-8395-EF95-B9F63CD8F3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5542" y="1381970"/>
                <a:ext cx="1538288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/>
                <p:nvPr/>
              </p:nvSpPr>
              <p:spPr>
                <a:xfrm>
                  <a:off x="4803305" y="1025188"/>
                  <a:ext cx="3238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3305" y="1025188"/>
                  <a:ext cx="323850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07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CE1198-4939-467D-BF69-4109A3C47B93}"/>
              </a:ext>
            </a:extLst>
          </p:cNvPr>
          <p:cNvGrpSpPr/>
          <p:nvPr/>
        </p:nvGrpSpPr>
        <p:grpSpPr>
          <a:xfrm>
            <a:off x="322868" y="4377375"/>
            <a:ext cx="7050873" cy="1683212"/>
            <a:chOff x="645245" y="4632752"/>
            <a:chExt cx="7050873" cy="168321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4AD39A0-BCAA-19BC-714D-E48F373ED305}"/>
                </a:ext>
              </a:extLst>
            </p:cNvPr>
            <p:cNvSpPr txBox="1"/>
            <p:nvPr/>
          </p:nvSpPr>
          <p:spPr>
            <a:xfrm>
              <a:off x="645245" y="4632752"/>
              <a:ext cx="1847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TDS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/c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 -0.0333 </a:t>
              </a:r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B8A970-1145-0953-9A91-1560650FA7A7}"/>
                </a:ext>
              </a:extLst>
            </p:cNvPr>
            <p:cNvSpPr txBox="1"/>
            <p:nvPr/>
          </p:nvSpPr>
          <p:spPr>
            <a:xfrm>
              <a:off x="645245" y="5043487"/>
              <a:ext cx="1152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64 </a:t>
              </a:r>
              <a:r>
                <a:rPr lang="en-US" sz="1800" dirty="0" err="1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nT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28DC3F-1053-B6FF-3306-D89BF7B53F5A}"/>
                </a:ext>
              </a:extLst>
            </p:cNvPr>
            <p:cNvSpPr txBox="1"/>
            <p:nvPr/>
          </p:nvSpPr>
          <p:spPr>
            <a:xfrm>
              <a:off x="645245" y="5485181"/>
              <a:ext cx="17621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100 mV/m</a:t>
              </a:r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F72AA2-456C-5824-EFCC-F375D2193374}"/>
                </a:ext>
              </a:extLst>
            </p:cNvPr>
            <p:cNvSpPr txBox="1"/>
            <p:nvPr/>
          </p:nvSpPr>
          <p:spPr>
            <a:xfrm>
              <a:off x="645245" y="5946632"/>
              <a:ext cx="1533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0.15 cm</a:t>
              </a:r>
              <a:r>
                <a:rPr lang="en-US" sz="1800" baseline="30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-3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31EC93-D96D-BAD8-30BD-F504DE32D9E7}"/>
                </a:ext>
              </a:extLst>
            </p:cNvPr>
            <p:cNvSpPr txBox="1"/>
            <p:nvPr/>
          </p:nvSpPr>
          <p:spPr>
            <a:xfrm>
              <a:off x="4856534" y="5333787"/>
              <a:ext cx="2839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NDE resonant speed = V</a:t>
              </a:r>
              <a:r>
                <a:rPr lang="en-US" baseline="-25000" dirty="0"/>
                <a:t>TDS</a:t>
              </a:r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4B73306-1BE6-40DB-26B9-DFBA6B07CE46}"/>
                </a:ext>
              </a:extLst>
            </p:cNvPr>
            <p:cNvSpPr txBox="1"/>
            <p:nvPr/>
          </p:nvSpPr>
          <p:spPr>
            <a:xfrm>
              <a:off x="3299809" y="5131969"/>
              <a:ext cx="1554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ω/Ω = −0.845</a:t>
              </a:r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91FFA01-B524-0C17-81BE-1DAA9515460B}"/>
                </a:ext>
              </a:extLst>
            </p:cNvPr>
            <p:cNvSpPr txBox="1"/>
            <p:nvPr/>
          </p:nvSpPr>
          <p:spPr>
            <a:xfrm>
              <a:off x="2089292" y="5577300"/>
              <a:ext cx="2928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refractive index n = 5.4655 </a:t>
              </a:r>
              <a:endParaRPr lang="en-US" dirty="0"/>
            </a:p>
          </p:txBody>
        </p:sp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ED069CF6-60F8-A831-A488-474F7AD5728C}"/>
                </a:ext>
              </a:extLst>
            </p:cNvPr>
            <p:cNvSpPr/>
            <p:nvPr/>
          </p:nvSpPr>
          <p:spPr>
            <a:xfrm>
              <a:off x="4665349" y="5218061"/>
              <a:ext cx="193435" cy="62636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007CC6A-A812-4B44-B4B0-DDFF1C3A2CF4}"/>
              </a:ext>
            </a:extLst>
          </p:cNvPr>
          <p:cNvSpPr/>
          <p:nvPr/>
        </p:nvSpPr>
        <p:spPr>
          <a:xfrm>
            <a:off x="147475" y="632135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*Direct observation of electron distributions inside millisecond duration electron holes Physical Review Letters 121 135102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76A3B7-F873-499C-AFF0-24B656663BB6}"/>
              </a:ext>
            </a:extLst>
          </p:cNvPr>
          <p:cNvSpPr/>
          <p:nvPr/>
        </p:nvSpPr>
        <p:spPr>
          <a:xfrm>
            <a:off x="1371600" y="2753862"/>
            <a:ext cx="2438400" cy="5831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640E229-24F7-408E-B4EF-3FA8DC553928}"/>
              </a:ext>
            </a:extLst>
          </p:cNvPr>
          <p:cNvSpPr/>
          <p:nvPr/>
        </p:nvSpPr>
        <p:spPr>
          <a:xfrm>
            <a:off x="5113756" y="2680633"/>
            <a:ext cx="1072571" cy="5831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CDD1522-38F1-447E-B1F0-07C4B936DD94}"/>
              </a:ext>
            </a:extLst>
          </p:cNvPr>
          <p:cNvGrpSpPr/>
          <p:nvPr/>
        </p:nvGrpSpPr>
        <p:grpSpPr>
          <a:xfrm>
            <a:off x="7031715" y="52391"/>
            <a:ext cx="4767491" cy="3575618"/>
            <a:chOff x="2944740" y="1557383"/>
            <a:chExt cx="4767491" cy="357561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46ED6C3-A900-4C51-86A6-D428FD6700C2}"/>
                </a:ext>
              </a:extLst>
            </p:cNvPr>
            <p:cNvGrpSpPr/>
            <p:nvPr/>
          </p:nvGrpSpPr>
          <p:grpSpPr>
            <a:xfrm>
              <a:off x="2944740" y="1557383"/>
              <a:ext cx="4767491" cy="3575618"/>
              <a:chOff x="6945950" y="910286"/>
              <a:chExt cx="4767491" cy="3575618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C1430BD-1BF8-481D-8468-B09ABCB49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45950" y="910286"/>
                <a:ext cx="4767491" cy="3575618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2C42F0-FCF2-4371-A5E6-9210A59135B5}"/>
                  </a:ext>
                </a:extLst>
              </p:cNvPr>
              <p:cNvSpPr txBox="1"/>
              <p:nvPr/>
            </p:nvSpPr>
            <p:spPr>
              <a:xfrm>
                <a:off x="10079665" y="3078555"/>
                <a:ext cx="11521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(4.646,0.845)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CC0BDC4-EDDF-4B91-8E13-24BED3B02490}"/>
                  </a:ext>
                </a:extLst>
              </p:cNvPr>
              <p:cNvSpPr/>
              <p:nvPr/>
            </p:nvSpPr>
            <p:spPr>
              <a:xfrm>
                <a:off x="10534067" y="3372083"/>
                <a:ext cx="85796" cy="11359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E50A532-97CA-44CC-B50F-80BAE3086858}"/>
                    </a:ext>
                  </a:extLst>
                </p:cNvPr>
                <p:cNvSpPr txBox="1"/>
                <p:nvPr/>
              </p:nvSpPr>
              <p:spPr>
                <a:xfrm>
                  <a:off x="3637186" y="3451070"/>
                  <a:ext cx="22187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𝑐𝑒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E50A532-97CA-44CC-B50F-80BAE3086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186" y="3451070"/>
                  <a:ext cx="221874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262A5CF-5F52-4B16-BA74-A2BE65B18A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468" y="3607240"/>
            <a:ext cx="4248764" cy="318657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6AC1518B-6AC9-4BD1-A375-5C9FFFB3D1EA}"/>
              </a:ext>
            </a:extLst>
          </p:cNvPr>
          <p:cNvSpPr/>
          <p:nvPr/>
        </p:nvSpPr>
        <p:spPr>
          <a:xfrm>
            <a:off x="7796348" y="682609"/>
            <a:ext cx="1074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64 </a:t>
            </a:r>
            <a:r>
              <a:rPr lang="en-US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93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D15D3-915E-6387-000B-B0C10ED72A14}"/>
              </a:ext>
            </a:extLst>
          </p:cNvPr>
          <p:cNvSpPr txBox="1"/>
          <p:nvPr/>
        </p:nvSpPr>
        <p:spPr>
          <a:xfrm>
            <a:off x="381788" y="15799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Trapping in normal doppler resonance (g = -1)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94F96-1598-DDCE-BE61-69857825585A}"/>
              </a:ext>
            </a:extLst>
          </p:cNvPr>
          <p:cNvSpPr txBox="1"/>
          <p:nvPr/>
        </p:nvSpPr>
        <p:spPr>
          <a:xfrm>
            <a:off x="685799" y="632299"/>
            <a:ext cx="561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domain structures (TDS)</a:t>
            </a:r>
            <a:r>
              <a:rPr lang="en-US" baseline="30000" dirty="0"/>
              <a:t>*</a:t>
            </a:r>
            <a:r>
              <a:rPr lang="en-US" dirty="0"/>
              <a:t> in magnetosphere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967601-52D6-42EE-8995-EDF722E9018D}"/>
              </a:ext>
            </a:extLst>
          </p:cNvPr>
          <p:cNvGrpSpPr/>
          <p:nvPr/>
        </p:nvGrpSpPr>
        <p:grpSpPr>
          <a:xfrm>
            <a:off x="837441" y="4339788"/>
            <a:ext cx="1847850" cy="1683212"/>
            <a:chOff x="1189059" y="4582357"/>
            <a:chExt cx="1847850" cy="168321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4AD39A0-BCAA-19BC-714D-E48F373ED305}"/>
                </a:ext>
              </a:extLst>
            </p:cNvPr>
            <p:cNvSpPr txBox="1"/>
            <p:nvPr/>
          </p:nvSpPr>
          <p:spPr>
            <a:xfrm>
              <a:off x="1189059" y="4582357"/>
              <a:ext cx="1847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sz="1800" baseline="-2500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TDS</a:t>
              </a:r>
              <a:r>
                <a:rPr lang="en-US" sz="180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/c</a:t>
              </a:r>
              <a:r>
                <a:rPr lang="en-US" sz="180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 -0.0333 </a:t>
              </a:r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B8A970-1145-0953-9A91-1560650FA7A7}"/>
                </a:ext>
              </a:extLst>
            </p:cNvPr>
            <p:cNvSpPr txBox="1"/>
            <p:nvPr/>
          </p:nvSpPr>
          <p:spPr>
            <a:xfrm>
              <a:off x="1189059" y="4993092"/>
              <a:ext cx="1152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sz="1800" baseline="-2500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sz="180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64 nT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28DC3F-1053-B6FF-3306-D89BF7B53F5A}"/>
                </a:ext>
              </a:extLst>
            </p:cNvPr>
            <p:cNvSpPr txBox="1"/>
            <p:nvPr/>
          </p:nvSpPr>
          <p:spPr>
            <a:xfrm>
              <a:off x="1189059" y="5434786"/>
              <a:ext cx="17621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100 mV/m</a:t>
              </a:r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F72AA2-456C-5824-EFCC-F375D2193374}"/>
                </a:ext>
              </a:extLst>
            </p:cNvPr>
            <p:cNvSpPr txBox="1"/>
            <p:nvPr/>
          </p:nvSpPr>
          <p:spPr>
            <a:xfrm>
              <a:off x="1189059" y="5896237"/>
              <a:ext cx="1533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0.15 cm</a:t>
              </a:r>
              <a:r>
                <a:rPr lang="en-US" sz="1800" baseline="30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-3</a:t>
              </a:r>
              <a:endParaRPr lang="en-US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007CC6A-A812-4B44-B4B0-DDFF1C3A2CF4}"/>
              </a:ext>
            </a:extLst>
          </p:cNvPr>
          <p:cNvSpPr/>
          <p:nvPr/>
        </p:nvSpPr>
        <p:spPr>
          <a:xfrm>
            <a:off x="5748679" y="623834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*Direct observation of electron distributions inside millisecond duration electron holes Physical Review Letters 121 135102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907C31-E541-4906-8884-19415FBEEF48}"/>
              </a:ext>
            </a:extLst>
          </p:cNvPr>
          <p:cNvGrpSpPr/>
          <p:nvPr/>
        </p:nvGrpSpPr>
        <p:grpSpPr>
          <a:xfrm>
            <a:off x="392084" y="984267"/>
            <a:ext cx="6187201" cy="3241183"/>
            <a:chOff x="762000" y="914547"/>
            <a:chExt cx="6187201" cy="3241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/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6E0786E-E7DB-422B-AC19-16CC34434FFC}"/>
                </a:ext>
              </a:extLst>
            </p:cNvPr>
            <p:cNvGrpSpPr/>
            <p:nvPr/>
          </p:nvGrpSpPr>
          <p:grpSpPr>
            <a:xfrm>
              <a:off x="762000" y="1259537"/>
              <a:ext cx="6187201" cy="2896193"/>
              <a:chOff x="762000" y="1271329"/>
              <a:chExt cx="6187201" cy="289619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054AF76-4263-A964-EB98-A01A9F09A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2000" y="2091372"/>
                <a:ext cx="6187201" cy="2076150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780476-3BB2-0BAA-9C00-431DF03A8BDE}"/>
                  </a:ext>
                </a:extLst>
              </p:cNvPr>
              <p:cNvSpPr/>
              <p:nvPr/>
            </p:nvSpPr>
            <p:spPr>
              <a:xfrm>
                <a:off x="3832533" y="2219325"/>
                <a:ext cx="518349" cy="1209675"/>
              </a:xfrm>
              <a:prstGeom prst="rect">
                <a:avLst/>
              </a:prstGeom>
              <a:solidFill>
                <a:schemeClr val="accent1">
                  <a:alpha val="1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D37A0AD-E3EA-F2E3-F6CD-A336C1E7C0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9516" y="1951935"/>
                <a:ext cx="155808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/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7C76B5-1539-A5DD-599D-723CDE369D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9516" y="1640661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DA8B75C-3968-8395-EF95-B9F63CD8F3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516" y="1271329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876A3B7-F873-499C-AFF0-24B656663BB6}"/>
                  </a:ext>
                </a:extLst>
              </p:cNvPr>
              <p:cNvSpPr/>
              <p:nvPr/>
            </p:nvSpPr>
            <p:spPr>
              <a:xfrm>
                <a:off x="1352735" y="2756967"/>
                <a:ext cx="2438400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640E229-24F7-408E-B4EF-3FA8DC553928}"/>
                  </a:ext>
                </a:extLst>
              </p:cNvPr>
              <p:cNvSpPr/>
              <p:nvPr/>
            </p:nvSpPr>
            <p:spPr>
              <a:xfrm>
                <a:off x="5113756" y="2680633"/>
                <a:ext cx="1072571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C40F8B9-F10B-4A80-A88D-15791F305488}"/>
              </a:ext>
            </a:extLst>
          </p:cNvPr>
          <p:cNvGrpSpPr/>
          <p:nvPr/>
        </p:nvGrpSpPr>
        <p:grpSpPr>
          <a:xfrm>
            <a:off x="6721820" y="992609"/>
            <a:ext cx="4767491" cy="3575618"/>
            <a:chOff x="6680379" y="1067283"/>
            <a:chExt cx="4767491" cy="35756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95C48A-A1E6-192E-00B3-3E9FB3803EFC}"/>
                </a:ext>
              </a:extLst>
            </p:cNvPr>
            <p:cNvSpPr/>
            <p:nvPr/>
          </p:nvSpPr>
          <p:spPr>
            <a:xfrm>
              <a:off x="10455753" y="1814449"/>
              <a:ext cx="242726" cy="15908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B21641D-3CC4-4369-AA32-91C284619CF7}"/>
                </a:ext>
              </a:extLst>
            </p:cNvPr>
            <p:cNvGrpSpPr/>
            <p:nvPr/>
          </p:nvGrpSpPr>
          <p:grpSpPr>
            <a:xfrm>
              <a:off x="6680379" y="1067283"/>
              <a:ext cx="4767491" cy="3575618"/>
              <a:chOff x="12823777" y="1063262"/>
              <a:chExt cx="4767491" cy="3575618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65BC5A7-4FD0-4F9D-B28A-63301D7827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23777" y="1063262"/>
                <a:ext cx="4767491" cy="3575618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0D958EF-74D9-4879-B3ED-B883191CE234}"/>
                  </a:ext>
                </a:extLst>
              </p:cNvPr>
              <p:cNvSpPr txBox="1"/>
              <p:nvPr/>
            </p:nvSpPr>
            <p:spPr>
              <a:xfrm>
                <a:off x="15766311" y="3213278"/>
                <a:ext cx="11521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(4.646,0.845)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B787D5A-04F1-4398-BF1A-7774692185AE}"/>
                  </a:ext>
                </a:extLst>
              </p:cNvPr>
              <p:cNvSpPr/>
              <p:nvPr/>
            </p:nvSpPr>
            <p:spPr>
              <a:xfrm>
                <a:off x="16341968" y="3506806"/>
                <a:ext cx="85796" cy="11359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C6450E-579F-4000-81DD-53F39FFC5A1D}"/>
                </a:ext>
              </a:extLst>
            </p:cNvPr>
            <p:cNvSpPr/>
            <p:nvPr/>
          </p:nvSpPr>
          <p:spPr>
            <a:xfrm>
              <a:off x="7284372" y="1236027"/>
              <a:ext cx="1847850" cy="3132773"/>
            </a:xfrm>
            <a:prstGeom prst="rect">
              <a:avLst/>
            </a:prstGeom>
            <a:solidFill>
              <a:schemeClr val="accent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8639B9-FDDD-459B-A5A7-7B2279C8C8EF}"/>
                </a:ext>
              </a:extLst>
            </p:cNvPr>
            <p:cNvSpPr txBox="1"/>
            <p:nvPr/>
          </p:nvSpPr>
          <p:spPr>
            <a:xfrm>
              <a:off x="7691980" y="2179607"/>
              <a:ext cx="1928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无交点</a:t>
              </a:r>
              <a:endParaRPr lang="en-US" dirty="0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435D027-7941-4C1A-8073-368E897CF6AE}"/>
              </a:ext>
            </a:extLst>
          </p:cNvPr>
          <p:cNvSpPr/>
          <p:nvPr/>
        </p:nvSpPr>
        <p:spPr>
          <a:xfrm>
            <a:off x="8697812" y="792021"/>
            <a:ext cx="1074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64 </a:t>
            </a:r>
            <a:r>
              <a:rPr lang="en-US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23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A0B2A8-8668-4C4C-88E6-75F17BBD3611}"/>
              </a:ext>
            </a:extLst>
          </p:cNvPr>
          <p:cNvSpPr txBox="1"/>
          <p:nvPr/>
        </p:nvSpPr>
        <p:spPr>
          <a:xfrm>
            <a:off x="1572" y="9703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Trapping in normal doppler resonance (g = -1)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3D615-E390-4AA7-8B17-9809C6624B87}"/>
              </a:ext>
            </a:extLst>
          </p:cNvPr>
          <p:cNvSpPr txBox="1"/>
          <p:nvPr/>
        </p:nvSpPr>
        <p:spPr>
          <a:xfrm>
            <a:off x="305583" y="571339"/>
            <a:ext cx="561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domain structures (TDS)</a:t>
            </a:r>
            <a:r>
              <a:rPr lang="en-US" baseline="30000" dirty="0"/>
              <a:t>*</a:t>
            </a:r>
            <a:r>
              <a:rPr lang="en-US" dirty="0"/>
              <a:t> in magnetosphere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B71679-B3C3-42E8-AD45-B2FB24994EC9}"/>
              </a:ext>
            </a:extLst>
          </p:cNvPr>
          <p:cNvGrpSpPr/>
          <p:nvPr/>
        </p:nvGrpSpPr>
        <p:grpSpPr>
          <a:xfrm>
            <a:off x="689174" y="4548321"/>
            <a:ext cx="1890004" cy="1715042"/>
            <a:chOff x="1109540" y="4563863"/>
            <a:chExt cx="1890004" cy="171504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20B4007-F8E0-412C-B355-2EA077EBD4FA}"/>
                </a:ext>
              </a:extLst>
            </p:cNvPr>
            <p:cNvSpPr txBox="1"/>
            <p:nvPr/>
          </p:nvSpPr>
          <p:spPr>
            <a:xfrm>
              <a:off x="1151694" y="4563863"/>
              <a:ext cx="1847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TDS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/c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 -0.0333 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DD584C-680C-4B1A-B728-D639DABDF515}"/>
                </a:ext>
              </a:extLst>
            </p:cNvPr>
            <p:cNvSpPr txBox="1"/>
            <p:nvPr/>
          </p:nvSpPr>
          <p:spPr>
            <a:xfrm>
              <a:off x="1109540" y="5008377"/>
              <a:ext cx="17621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800 </a:t>
              </a:r>
              <a:r>
                <a:rPr lang="en-US" sz="1800" dirty="0" err="1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nT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1F4DF0-4A1C-40DD-8228-8696A6032FAB}"/>
                </a:ext>
              </a:extLst>
            </p:cNvPr>
            <p:cNvSpPr txBox="1"/>
            <p:nvPr/>
          </p:nvSpPr>
          <p:spPr>
            <a:xfrm>
              <a:off x="1109540" y="5449251"/>
              <a:ext cx="17621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100 mV/m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D29E6B-B5B5-4034-94E1-790A80D1A29C}"/>
                </a:ext>
              </a:extLst>
            </p:cNvPr>
            <p:cNvSpPr txBox="1"/>
            <p:nvPr/>
          </p:nvSpPr>
          <p:spPr>
            <a:xfrm>
              <a:off x="1109540" y="5909573"/>
              <a:ext cx="1533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sz="1800" baseline="-25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sz="1800" dirty="0"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Cambria Math" panose="02040503050406030204" pitchFamily="18" charset="0"/>
                </a:rPr>
                <a:t>∼</a:t>
              </a:r>
              <a:r>
                <a:rPr lang="en-US" sz="18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0.15 cm</a:t>
              </a:r>
              <a:r>
                <a:rPr lang="en-US" sz="1800" baseline="30000" dirty="0">
                  <a:effectLst/>
                  <a:latin typeface="Calibri" panose="020F0502020204030204" pitchFamily="34" charset="0"/>
                  <a:ea typeface="等线" panose="02010600030101010101" pitchFamily="2" charset="-122"/>
                  <a:cs typeface="Times New Roman" panose="02020603050405020304" pitchFamily="18" charset="0"/>
                </a:rPr>
                <a:t>-3</a:t>
              </a:r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34BCE37-B61D-4822-81CE-5387A4925746}"/>
              </a:ext>
            </a:extLst>
          </p:cNvPr>
          <p:cNvSpPr/>
          <p:nvPr/>
        </p:nvSpPr>
        <p:spPr>
          <a:xfrm>
            <a:off x="4413804" y="6581001"/>
            <a:ext cx="782059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*Direct observation of electron distributions inside millisecond duration electron holes Physical Review Letters 121 135102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C8C8AA-BB49-4AE8-AC70-7048875A9355}"/>
              </a:ext>
            </a:extLst>
          </p:cNvPr>
          <p:cNvGrpSpPr/>
          <p:nvPr/>
        </p:nvGrpSpPr>
        <p:grpSpPr>
          <a:xfrm>
            <a:off x="370363" y="1069424"/>
            <a:ext cx="6187201" cy="3241183"/>
            <a:chOff x="762000" y="914547"/>
            <a:chExt cx="6187201" cy="3241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FD540FB-3D33-40BE-AB79-704E75C175ED}"/>
                    </a:ext>
                  </a:extLst>
                </p:cNvPr>
                <p:cNvSpPr txBox="1"/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442CD4-2CFC-4FD9-ACF7-0130ED1E63DF}"/>
                </a:ext>
              </a:extLst>
            </p:cNvPr>
            <p:cNvGrpSpPr/>
            <p:nvPr/>
          </p:nvGrpSpPr>
          <p:grpSpPr>
            <a:xfrm>
              <a:off x="762000" y="1259537"/>
              <a:ext cx="6187201" cy="2896193"/>
              <a:chOff x="762000" y="1271329"/>
              <a:chExt cx="6187201" cy="289619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DB308E8-6764-4864-9491-FBBDF97BF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000" y="2091372"/>
                <a:ext cx="6187201" cy="2076150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505EDF2-F149-45F7-949A-F58C14102571}"/>
                  </a:ext>
                </a:extLst>
              </p:cNvPr>
              <p:cNvSpPr/>
              <p:nvPr/>
            </p:nvSpPr>
            <p:spPr>
              <a:xfrm>
                <a:off x="4540037" y="2263209"/>
                <a:ext cx="518349" cy="1145543"/>
              </a:xfrm>
              <a:prstGeom prst="rect">
                <a:avLst/>
              </a:prstGeom>
              <a:solidFill>
                <a:schemeClr val="accent1">
                  <a:alpha val="1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73D6D9FB-C222-4B91-A324-974C1C4F3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516" y="1951935"/>
                <a:ext cx="155808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3683AEB6-57C1-48FE-9F13-EA5D83FCD064}"/>
                      </a:ext>
                    </a:extLst>
                  </p:cNvPr>
                  <p:cNvSpPr txBox="1"/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396E613-3C9B-401F-A017-1E87585929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516" y="1640661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16DF634-245B-415B-929B-D2D0B6DF77AF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167B9D4-37A1-4AD6-9073-3832956FC9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516" y="1271329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E52386E8-397A-40F0-9A11-02024445333F}"/>
                  </a:ext>
                </a:extLst>
              </p:cNvPr>
              <p:cNvSpPr/>
              <p:nvPr/>
            </p:nvSpPr>
            <p:spPr>
              <a:xfrm>
                <a:off x="1352735" y="2756967"/>
                <a:ext cx="2438400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8301A0DD-9350-4373-B134-A9B45C8FA8A7}"/>
                  </a:ext>
                </a:extLst>
              </p:cNvPr>
              <p:cNvSpPr/>
              <p:nvPr/>
            </p:nvSpPr>
            <p:spPr>
              <a:xfrm>
                <a:off x="5113756" y="2680633"/>
                <a:ext cx="1072571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60C7E2-1A34-408D-ACAB-7105A0587EC4}"/>
                  </a:ext>
                </a:extLst>
              </p:cNvPr>
              <p:cNvSpPr txBox="1"/>
              <p:nvPr/>
            </p:nvSpPr>
            <p:spPr>
              <a:xfrm>
                <a:off x="2707056" y="4800356"/>
                <a:ext cx="3367062" cy="1237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=1.0344;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𝑘𝑐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=−1.034;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0.9588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𝑘𝑐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1.236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60C7E2-1A34-408D-ACAB-7105A0587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056" y="4800356"/>
                <a:ext cx="3367062" cy="1237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EE83135-B3AC-47C6-84BF-9880E1EAC47A}"/>
              </a:ext>
            </a:extLst>
          </p:cNvPr>
          <p:cNvSpPr/>
          <p:nvPr/>
        </p:nvSpPr>
        <p:spPr>
          <a:xfrm>
            <a:off x="9198029" y="93793"/>
            <a:ext cx="1191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800 </a:t>
            </a:r>
            <a:r>
              <a:rPr lang="en-US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nT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93BD9E-DBAD-4D93-A064-F87D34E37D36}"/>
              </a:ext>
            </a:extLst>
          </p:cNvPr>
          <p:cNvGrpSpPr/>
          <p:nvPr/>
        </p:nvGrpSpPr>
        <p:grpSpPr>
          <a:xfrm>
            <a:off x="7679238" y="443666"/>
            <a:ext cx="3768414" cy="2826311"/>
            <a:chOff x="7650090" y="288967"/>
            <a:chExt cx="3768414" cy="2826311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C1E6DF1-95A3-4172-85DF-AB3D2BA59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50090" y="288967"/>
              <a:ext cx="3768414" cy="282631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F5C71B-D5F4-44A7-8B07-40EBE4F3628E}"/>
                    </a:ext>
                  </a:extLst>
                </p:cNvPr>
                <p:cNvSpPr txBox="1"/>
                <p:nvPr/>
              </p:nvSpPr>
              <p:spPr>
                <a:xfrm>
                  <a:off x="8552456" y="615664"/>
                  <a:ext cx="22187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+|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𝑐𝑒</m:t>
                            </m:r>
                          </m:sub>
                        </m:sSub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F5C71B-D5F4-44A7-8B07-40EBE4F36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2456" y="615664"/>
                  <a:ext cx="221874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49F572A-44A4-4104-B1A9-3A63BD5EED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2834" y="3286894"/>
            <a:ext cx="4210390" cy="31577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98EE08-7B7F-4A7B-8808-AB9917EBF3C5}"/>
              </a:ext>
            </a:extLst>
          </p:cNvPr>
          <p:cNvSpPr/>
          <p:nvPr/>
        </p:nvSpPr>
        <p:spPr>
          <a:xfrm>
            <a:off x="10331116" y="1438756"/>
            <a:ext cx="938463" cy="1101429"/>
          </a:xfrm>
          <a:prstGeom prst="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626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A0B2A8-8668-4C4C-88E6-75F17BBD3611}"/>
              </a:ext>
            </a:extLst>
          </p:cNvPr>
          <p:cNvSpPr txBox="1"/>
          <p:nvPr/>
        </p:nvSpPr>
        <p:spPr>
          <a:xfrm>
            <a:off x="1572" y="9703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Trapping in normal doppler resonance (g = -1)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3D615-E390-4AA7-8B17-9809C6624B87}"/>
              </a:ext>
            </a:extLst>
          </p:cNvPr>
          <p:cNvSpPr txBox="1"/>
          <p:nvPr/>
        </p:nvSpPr>
        <p:spPr>
          <a:xfrm>
            <a:off x="305583" y="571339"/>
            <a:ext cx="5615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domain structures (TDS)</a:t>
            </a:r>
            <a:r>
              <a:rPr lang="en-US" baseline="30000" dirty="0"/>
              <a:t>*</a:t>
            </a:r>
            <a:r>
              <a:rPr lang="en-US" dirty="0"/>
              <a:t> in magnetosphere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4BCE37-B61D-4822-81CE-5387A4925746}"/>
              </a:ext>
            </a:extLst>
          </p:cNvPr>
          <p:cNvSpPr/>
          <p:nvPr/>
        </p:nvSpPr>
        <p:spPr>
          <a:xfrm>
            <a:off x="4413804" y="6581001"/>
            <a:ext cx="782059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*Direct observation of electron distributions inside millisecond duration electron holes Physical Review Letters 121 135102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C8C8AA-BB49-4AE8-AC70-7048875A9355}"/>
              </a:ext>
            </a:extLst>
          </p:cNvPr>
          <p:cNvGrpSpPr/>
          <p:nvPr/>
        </p:nvGrpSpPr>
        <p:grpSpPr>
          <a:xfrm>
            <a:off x="370363" y="1069424"/>
            <a:ext cx="6187201" cy="3241183"/>
            <a:chOff x="762000" y="914547"/>
            <a:chExt cx="6187201" cy="3241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FD540FB-3D33-40BE-AB79-704E75C175ED}"/>
                    </a:ext>
                  </a:extLst>
                </p:cNvPr>
                <p:cNvSpPr txBox="1"/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442CD4-2CFC-4FD9-ACF7-0130ED1E63DF}"/>
                </a:ext>
              </a:extLst>
            </p:cNvPr>
            <p:cNvGrpSpPr/>
            <p:nvPr/>
          </p:nvGrpSpPr>
          <p:grpSpPr>
            <a:xfrm>
              <a:off x="762000" y="1259537"/>
              <a:ext cx="6187201" cy="2896193"/>
              <a:chOff x="762000" y="1271329"/>
              <a:chExt cx="6187201" cy="289619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DB308E8-6764-4864-9491-FBBDF97BF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000" y="2091372"/>
                <a:ext cx="6187201" cy="2076150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505EDF2-F149-45F7-949A-F58C14102571}"/>
                  </a:ext>
                </a:extLst>
              </p:cNvPr>
              <p:cNvSpPr/>
              <p:nvPr/>
            </p:nvSpPr>
            <p:spPr>
              <a:xfrm>
                <a:off x="3832533" y="2219325"/>
                <a:ext cx="518349" cy="1209675"/>
              </a:xfrm>
              <a:prstGeom prst="rect">
                <a:avLst/>
              </a:prstGeom>
              <a:solidFill>
                <a:schemeClr val="accent1">
                  <a:alpha val="1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73D6D9FB-C222-4B91-A324-974C1C4F31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9516" y="1951935"/>
                <a:ext cx="155808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3683AEB6-57C1-48FE-9F13-EA5D83FCD064}"/>
                      </a:ext>
                    </a:extLst>
                  </p:cNvPr>
                  <p:cNvSpPr txBox="1"/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396E613-3C9B-401F-A017-1E87585929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9516" y="1640661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16DF634-245B-415B-929B-D2D0B6DF77AF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167B9D4-37A1-4AD6-9073-3832956FC9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516" y="1271329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E52386E8-397A-40F0-9A11-02024445333F}"/>
                  </a:ext>
                </a:extLst>
              </p:cNvPr>
              <p:cNvSpPr/>
              <p:nvPr/>
            </p:nvSpPr>
            <p:spPr>
              <a:xfrm>
                <a:off x="1352735" y="2756967"/>
                <a:ext cx="2438400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8301A0DD-9350-4373-B134-A9B45C8FA8A7}"/>
                  </a:ext>
                </a:extLst>
              </p:cNvPr>
              <p:cNvSpPr/>
              <p:nvPr/>
            </p:nvSpPr>
            <p:spPr>
              <a:xfrm>
                <a:off x="5113756" y="2680633"/>
                <a:ext cx="1072571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60C7E2-1A34-408D-ACAB-7105A0587EC4}"/>
                  </a:ext>
                </a:extLst>
              </p:cNvPr>
              <p:cNvSpPr txBox="1"/>
              <p:nvPr/>
            </p:nvSpPr>
            <p:spPr>
              <a:xfrm>
                <a:off x="2728937" y="4975374"/>
                <a:ext cx="4032809" cy="665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=1.0344;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𝑘𝑐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=−1.034;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en-US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B60C7E2-1A34-408D-ACAB-7105A0587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37" y="4975374"/>
                <a:ext cx="4032809" cy="665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EE83135-B3AC-47C6-84BF-9880E1EAC47A}"/>
              </a:ext>
            </a:extLst>
          </p:cNvPr>
          <p:cNvSpPr/>
          <p:nvPr/>
        </p:nvSpPr>
        <p:spPr>
          <a:xfrm>
            <a:off x="9245654" y="73976"/>
            <a:ext cx="1191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Cambria Math" panose="02040503050406030204" pitchFamily="18" charset="0"/>
                <a:ea typeface="等线" panose="02010600030101010101" pitchFamily="2" charset="-122"/>
                <a:cs typeface="Cambria Math" panose="02040503050406030204" pitchFamily="18" charset="0"/>
              </a:rPr>
              <a:t>∼</a:t>
            </a:r>
            <a:r>
              <a:rPr lang="en-US" dirty="0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800 </a:t>
            </a:r>
            <a:r>
              <a:rPr lang="en-US" dirty="0" err="1"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nT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93BD9E-DBAD-4D93-A064-F87D34E37D36}"/>
              </a:ext>
            </a:extLst>
          </p:cNvPr>
          <p:cNvGrpSpPr/>
          <p:nvPr/>
        </p:nvGrpSpPr>
        <p:grpSpPr>
          <a:xfrm>
            <a:off x="7679238" y="443666"/>
            <a:ext cx="3768414" cy="2826311"/>
            <a:chOff x="7650090" y="288967"/>
            <a:chExt cx="3768414" cy="2826311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C1E6DF1-95A3-4172-85DF-AB3D2BA59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50090" y="288967"/>
              <a:ext cx="3768414" cy="282631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F5C71B-D5F4-44A7-8B07-40EBE4F3628E}"/>
                    </a:ext>
                  </a:extLst>
                </p:cNvPr>
                <p:cNvSpPr txBox="1"/>
                <p:nvPr/>
              </p:nvSpPr>
              <p:spPr>
                <a:xfrm>
                  <a:off x="8519194" y="658299"/>
                  <a:ext cx="22187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𝑐𝑒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F5C71B-D5F4-44A7-8B07-40EBE4F36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9194" y="658299"/>
                  <a:ext cx="221874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72E90AF-5A90-4BBD-98C9-03F71547606B}"/>
              </a:ext>
            </a:extLst>
          </p:cNvPr>
          <p:cNvSpPr/>
          <p:nvPr/>
        </p:nvSpPr>
        <p:spPr>
          <a:xfrm>
            <a:off x="8548342" y="1174485"/>
            <a:ext cx="938463" cy="1101429"/>
          </a:xfrm>
          <a:prstGeom prst="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A69850B-87B6-4A0D-8A84-2F4A6880B1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1690" y="3452724"/>
            <a:ext cx="3832045" cy="28740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A8E80E3-9FBD-4112-9FED-CA1577C0550E}"/>
              </a:ext>
            </a:extLst>
          </p:cNvPr>
          <p:cNvGrpSpPr/>
          <p:nvPr/>
        </p:nvGrpSpPr>
        <p:grpSpPr>
          <a:xfrm>
            <a:off x="768692" y="4566815"/>
            <a:ext cx="2079283" cy="2291185"/>
            <a:chOff x="768692" y="4566815"/>
            <a:chExt cx="2079283" cy="229118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8B71679-B3C3-42E8-AD45-B2FB24994EC9}"/>
                </a:ext>
              </a:extLst>
            </p:cNvPr>
            <p:cNvGrpSpPr/>
            <p:nvPr/>
          </p:nvGrpSpPr>
          <p:grpSpPr>
            <a:xfrm>
              <a:off x="768692" y="4566815"/>
              <a:ext cx="1847851" cy="1683212"/>
              <a:chOff x="1189058" y="4582357"/>
              <a:chExt cx="1847851" cy="168321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0B4007-F8E0-412C-B355-2EA077EBD4FA}"/>
                  </a:ext>
                </a:extLst>
              </p:cNvPr>
              <p:cNvSpPr txBox="1"/>
              <p:nvPr/>
            </p:nvSpPr>
            <p:spPr>
              <a:xfrm>
                <a:off x="1189059" y="4582357"/>
                <a:ext cx="18478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TDS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/c</a:t>
                </a:r>
                <a:r>
                  <a:rPr lang="en-US" sz="1800" dirty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Cambria Math" panose="02040503050406030204" pitchFamily="18" charset="0"/>
                  </a:rPr>
                  <a:t>∼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-0.0333 </a:t>
                </a:r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DD584C-680C-4B1A-B728-D639DABDF515}"/>
                  </a:ext>
                </a:extLst>
              </p:cNvPr>
              <p:cNvSpPr txBox="1"/>
              <p:nvPr/>
            </p:nvSpPr>
            <p:spPr>
              <a:xfrm>
                <a:off x="1189058" y="5030445"/>
                <a:ext cx="1762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sz="1800" dirty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Cambria Math" panose="02040503050406030204" pitchFamily="18" charset="0"/>
                  </a:rPr>
                  <a:t>∼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800 </a:t>
                </a:r>
                <a:r>
                  <a:rPr lang="en-US" sz="1800" dirty="0" err="1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nT</a:t>
                </a:r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1F4DF0-4A1C-40DD-8228-8696A6032FAB}"/>
                  </a:ext>
                </a:extLst>
              </p:cNvPr>
              <p:cNvSpPr txBox="1"/>
              <p:nvPr/>
            </p:nvSpPr>
            <p:spPr>
              <a:xfrm>
                <a:off x="1189059" y="5434786"/>
                <a:ext cx="17621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sz="1800" dirty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Cambria Math" panose="02040503050406030204" pitchFamily="18" charset="0"/>
                  </a:rPr>
                  <a:t>∼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100 mV/m</a:t>
                </a:r>
                <a:endParaRPr 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D29E6B-B5B5-4034-94E1-790A80D1A29C}"/>
                  </a:ext>
                </a:extLst>
              </p:cNvPr>
              <p:cNvSpPr txBox="1"/>
              <p:nvPr/>
            </p:nvSpPr>
            <p:spPr>
              <a:xfrm>
                <a:off x="1189059" y="5896237"/>
                <a:ext cx="15335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en-US" sz="1800" dirty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Cambria Math" panose="02040503050406030204" pitchFamily="18" charset="0"/>
                  </a:rPr>
                  <a:t>∼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0.15 cm</a:t>
                </a:r>
                <a:r>
                  <a:rPr lang="en-US" sz="1800" baseline="30000" dirty="0">
                    <a:effectLst/>
                    <a:latin typeface="Calibri" panose="020F0502020204030204" pitchFamily="34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-3</a:t>
                </a:r>
                <a:endParaRPr lang="en-US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C49D99-D8E4-4D9E-BDD3-6B587A153FE3}"/>
                </a:ext>
              </a:extLst>
            </p:cNvPr>
            <p:cNvSpPr txBox="1"/>
            <p:nvPr/>
          </p:nvSpPr>
          <p:spPr>
            <a:xfrm>
              <a:off x="768693" y="6211669"/>
              <a:ext cx="20792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Ap=12.75 V/m</a:t>
              </a:r>
            </a:p>
            <a:p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539A7C-EA98-43AF-9FE8-BF44B604739A}"/>
                  </a:ext>
                </a:extLst>
              </p:cNvPr>
              <p:cNvSpPr txBox="1"/>
              <p:nvPr/>
            </p:nvSpPr>
            <p:spPr>
              <a:xfrm>
                <a:off x="2707753" y="5640589"/>
                <a:ext cx="22187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+|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539A7C-EA98-43AF-9FE8-BF44B6047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753" y="5640589"/>
                <a:ext cx="2218743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row: Right 30">
            <a:extLst>
              <a:ext uri="{FF2B5EF4-FFF2-40B4-BE49-F238E27FC236}">
                <a16:creationId xmlns:a16="http://schemas.microsoft.com/office/drawing/2014/main" id="{327F7253-7268-4757-9503-42936F757678}"/>
              </a:ext>
            </a:extLst>
          </p:cNvPr>
          <p:cNvSpPr/>
          <p:nvPr/>
        </p:nvSpPr>
        <p:spPr>
          <a:xfrm>
            <a:off x="4764694" y="5718052"/>
            <a:ext cx="394330" cy="2079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8D6655-B382-4313-8456-D39F96E07FC1}"/>
                  </a:ext>
                </a:extLst>
              </p:cNvPr>
              <p:cNvSpPr txBox="1"/>
              <p:nvPr/>
            </p:nvSpPr>
            <p:spPr>
              <a:xfrm>
                <a:off x="5220732" y="5624027"/>
                <a:ext cx="2440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+|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𝑐𝑒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|/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A8D6655-B382-4313-8456-D39F96E07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732" y="5624027"/>
                <a:ext cx="2440693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646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2528-A28E-C137-9FAE-78C6CD95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theory about auto resonance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9083-93C4-DE0B-ABEF-77AB91C70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Nonlinear Resonances, pendulum system , Page 294</a:t>
            </a:r>
          </a:p>
          <a:p>
            <a:r>
              <a:rPr lang="de-DE" dirty="0"/>
              <a:t>J. Fajans, L. Friedland, Am. J. Phys. 69, 1096 (2001)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9B1BF1-5456-4118-A663-427AB1AB9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735" y="388770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06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DE7B9B-75E0-4E01-BB4D-FA9DE433D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238" y="1002053"/>
            <a:ext cx="5881399" cy="441104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D2A6379-9760-4D59-AB6B-99D822504C65}"/>
              </a:ext>
            </a:extLst>
          </p:cNvPr>
          <p:cNvGrpSpPr/>
          <p:nvPr/>
        </p:nvGrpSpPr>
        <p:grpSpPr>
          <a:xfrm>
            <a:off x="251111" y="1638140"/>
            <a:ext cx="5204127" cy="2899648"/>
            <a:chOff x="762000" y="914547"/>
            <a:chExt cx="6187201" cy="3241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DCF7A5D-E72F-4CA1-B420-F14A25F7D300}"/>
                    </a:ext>
                  </a:extLst>
                </p:cNvPr>
                <p:cNvSpPr txBox="1"/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35AC54-F478-26C2-5116-594B2394E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461" y="914547"/>
                  <a:ext cx="327005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8CB2E3E-0E9A-45EA-81FF-8ADCBA67309B}"/>
                </a:ext>
              </a:extLst>
            </p:cNvPr>
            <p:cNvGrpSpPr/>
            <p:nvPr/>
          </p:nvGrpSpPr>
          <p:grpSpPr>
            <a:xfrm>
              <a:off x="762000" y="1259537"/>
              <a:ext cx="6187201" cy="2896193"/>
              <a:chOff x="762000" y="1271329"/>
              <a:chExt cx="6187201" cy="289619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49D66B5-CC29-47F8-94E2-86EC2EE7A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000" y="2091372"/>
                <a:ext cx="6187201" cy="2076150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EFB6A2C-BBD0-4ADF-B4B0-D3A85DF6C4DE}"/>
                  </a:ext>
                </a:extLst>
              </p:cNvPr>
              <p:cNvSpPr/>
              <p:nvPr/>
            </p:nvSpPr>
            <p:spPr>
              <a:xfrm>
                <a:off x="3832533" y="2219325"/>
                <a:ext cx="518349" cy="1209675"/>
              </a:xfrm>
              <a:prstGeom prst="rect">
                <a:avLst/>
              </a:prstGeom>
              <a:solidFill>
                <a:schemeClr val="accent1">
                  <a:alpha val="1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25453-E976-4921-80EA-588DB18638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9516" y="1951935"/>
                <a:ext cx="155808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85590C7-D0D2-4AFF-9845-D0B0A2D006CD}"/>
                      </a:ext>
                    </a:extLst>
                  </p:cNvPr>
                  <p:cNvSpPr txBox="1"/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DC105B9-DA11-32EE-4632-7BC14DA15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1137" y="1607702"/>
                    <a:ext cx="46165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CEA61BE1-1DE1-4DA2-BA54-7D861E39E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9516" y="1640661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9AB3139-4FD5-49C1-813C-AE4CC366E4AB}"/>
                      </a:ext>
                    </a:extLst>
                  </p:cNvPr>
                  <p:cNvSpPr txBox="1"/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49C2306-CD0D-DEE0-C64B-072328C67A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38461" y="1271329"/>
                    <a:ext cx="32700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3332A8A-4274-4CD4-B7E6-6B4C4CB90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516" y="1271329"/>
                <a:ext cx="1553275" cy="0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53102A9B-2F43-4BFB-BE90-97EA856FB533}"/>
                  </a:ext>
                </a:extLst>
              </p:cNvPr>
              <p:cNvSpPr/>
              <p:nvPr/>
            </p:nvSpPr>
            <p:spPr>
              <a:xfrm>
                <a:off x="1352735" y="2756967"/>
                <a:ext cx="2438400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EA93D4E7-13B5-4EFC-AC37-337FB4203726}"/>
                  </a:ext>
                </a:extLst>
              </p:cNvPr>
              <p:cNvSpPr/>
              <p:nvPr/>
            </p:nvSpPr>
            <p:spPr>
              <a:xfrm>
                <a:off x="5113756" y="2680633"/>
                <a:ext cx="1072571" cy="58312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E9D666-93CA-4F8B-A89F-7C1E08E8BBC1}"/>
                  </a:ext>
                </a:extLst>
              </p:cNvPr>
              <p:cNvSpPr txBox="1"/>
              <p:nvPr/>
            </p:nvSpPr>
            <p:spPr>
              <a:xfrm>
                <a:off x="-455757" y="593031"/>
                <a:ext cx="4032809" cy="613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𝑐𝑒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=1.0344;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≈4</m:t>
                      </m:r>
                    </m:oMath>
                  </m:oMathPara>
                </a14:m>
                <a:endParaRPr lang="en-US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E9D666-93CA-4F8B-A89F-7C1E08E8B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5757" y="593031"/>
                <a:ext cx="4032809" cy="6135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78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79CBAA6-FAE1-4271-B5E3-F8AA46B528E4}"/>
              </a:ext>
            </a:extLst>
          </p:cNvPr>
          <p:cNvGrpSpPr/>
          <p:nvPr/>
        </p:nvGrpSpPr>
        <p:grpSpPr>
          <a:xfrm>
            <a:off x="2224839" y="609601"/>
            <a:ext cx="8239628" cy="3384885"/>
            <a:chOff x="508334" y="713874"/>
            <a:chExt cx="8239628" cy="338488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DF1DF89-E98C-408C-85A3-05FEBE764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8334" y="864519"/>
              <a:ext cx="4312320" cy="323424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8445643-742D-4695-BF1B-D7F8DA7BE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5642" y="864519"/>
              <a:ext cx="4312320" cy="323424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9C2F4E-5B41-40C9-9E8A-4CE684A82A6A}"/>
                </a:ext>
              </a:extLst>
            </p:cNvPr>
            <p:cNvSpPr txBox="1"/>
            <p:nvPr/>
          </p:nvSpPr>
          <p:spPr>
            <a:xfrm>
              <a:off x="1049755" y="713874"/>
              <a:ext cx="6817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EB3EA1-7230-4068-9033-A9F9C356E33A}"/>
                </a:ext>
              </a:extLst>
            </p:cNvPr>
            <p:cNvSpPr txBox="1"/>
            <p:nvPr/>
          </p:nvSpPr>
          <p:spPr>
            <a:xfrm>
              <a:off x="4840708" y="713874"/>
              <a:ext cx="6817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04603E3-3358-42F4-A320-1E8CE204D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10" y="2053572"/>
            <a:ext cx="8242506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8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977</Words>
  <Application>Microsoft Office PowerPoint</Application>
  <PresentationFormat>Widescreen</PresentationFormat>
  <Paragraphs>143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DengXian</vt:lpstr>
      <vt:lpstr>DengXian</vt:lpstr>
      <vt:lpstr>Arial</vt:lpstr>
      <vt:lpstr>Calibri</vt:lpstr>
      <vt:lpstr>Cambria Math</vt:lpstr>
      <vt:lpstr>Times New Roman</vt:lpstr>
      <vt:lpstr>Office Theme</vt:lpstr>
      <vt:lpstr>Trapping analysis of a magnetic electron by a circularly polarized electromagnetic wave in static electric field </vt:lpstr>
      <vt:lpstr>Introduction section</vt:lpstr>
      <vt:lpstr>Pseudo-potential model for wave-electron interaction</vt:lpstr>
      <vt:lpstr>Trapping in anomalous doppler resonance (g = 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important theory about auto resonance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Trapping analysis of a magnetic electron by a circularly polarized electromagnetic wave in static electric field </dc:title>
  <dc:creator>Xinhang Xu</dc:creator>
  <cp:lastModifiedBy>Xinhang Xu</cp:lastModifiedBy>
  <cp:revision>52</cp:revision>
  <dcterms:created xsi:type="dcterms:W3CDTF">2025-12-01T07:33:48Z</dcterms:created>
  <dcterms:modified xsi:type="dcterms:W3CDTF">2026-03-09T08:04:49Z</dcterms:modified>
</cp:coreProperties>
</file>