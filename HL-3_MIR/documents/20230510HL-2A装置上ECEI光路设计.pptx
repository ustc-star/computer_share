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25"/>
  </p:notesMasterIdLst>
  <p:sldIdLst>
    <p:sldId id="266" r:id="rId2"/>
    <p:sldId id="275" r:id="rId3"/>
    <p:sldId id="278" r:id="rId4"/>
    <p:sldId id="277" r:id="rId5"/>
    <p:sldId id="257" r:id="rId6"/>
    <p:sldId id="260" r:id="rId7"/>
    <p:sldId id="262" r:id="rId8"/>
    <p:sldId id="261" r:id="rId9"/>
    <p:sldId id="263" r:id="rId10"/>
    <p:sldId id="258" r:id="rId11"/>
    <p:sldId id="259" r:id="rId12"/>
    <p:sldId id="264" r:id="rId13"/>
    <p:sldId id="265" r:id="rId14"/>
    <p:sldId id="267" r:id="rId15"/>
    <p:sldId id="268" r:id="rId16"/>
    <p:sldId id="269" r:id="rId17"/>
    <p:sldId id="273" r:id="rId18"/>
    <p:sldId id="270" r:id="rId19"/>
    <p:sldId id="271" r:id="rId20"/>
    <p:sldId id="279" r:id="rId21"/>
    <p:sldId id="274" r:id="rId22"/>
    <p:sldId id="276" r:id="rId23"/>
    <p:sldId id="272" r:id="rId24"/>
  </p:sldIdLst>
  <p:sldSz cx="12192000" cy="6858000"/>
  <p:notesSz cx="6797675" cy="992822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6B5"/>
    <a:srgbClr val="FDF431"/>
    <a:srgbClr val="D001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9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46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628DD5-7E80-4468-92A0-876A7382A6CE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8A753-3356-46FB-92EC-F91867187C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61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备份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8A753-3356-46FB-92EC-F91867187C5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5801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2FA2F-F018-4EA8-A4D8-80DBAAEEB5DA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296E2-8832-405A-89B8-5543DB8C8C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9669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2FA2F-F018-4EA8-A4D8-80DBAAEEB5DA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296E2-8832-405A-89B8-5543DB8C8C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8103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2FA2F-F018-4EA8-A4D8-80DBAAEEB5DA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296E2-8832-405A-89B8-5543DB8C8C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0244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2FA2F-F018-4EA8-A4D8-80DBAAEEB5DA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296E2-8832-405A-89B8-5543DB8C8C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2397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2FA2F-F018-4EA8-A4D8-80DBAAEEB5DA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296E2-8832-405A-89B8-5543DB8C8C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2324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2FA2F-F018-4EA8-A4D8-80DBAAEEB5DA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296E2-8832-405A-89B8-5543DB8C8C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1402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2FA2F-F018-4EA8-A4D8-80DBAAEEB5DA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296E2-8832-405A-89B8-5543DB8C8C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7719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2FA2F-F018-4EA8-A4D8-80DBAAEEB5DA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296E2-8832-405A-89B8-5543DB8C8C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6341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2FA2F-F018-4EA8-A4D8-80DBAAEEB5DA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296E2-8832-405A-89B8-5543DB8C8C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3478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2FA2F-F018-4EA8-A4D8-80DBAAEEB5DA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296E2-8832-405A-89B8-5543DB8C8C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0899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2FA2F-F018-4EA8-A4D8-80DBAAEEB5DA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296E2-8832-405A-89B8-5543DB8C8C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31306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2FA2F-F018-4EA8-A4D8-80DBAAEEB5DA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296E2-8832-405A-89B8-5543DB8C8C8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831745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2FA2F-F018-4EA8-A4D8-80DBAAEEB5DA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296E2-8832-405A-89B8-5543DB8C8C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22381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2FA2F-F018-4EA8-A4D8-80DBAAEEB5DA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296E2-8832-405A-89B8-5543DB8C8C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88535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2FA2F-F018-4EA8-A4D8-80DBAAEEB5DA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296E2-8832-405A-89B8-5543DB8C8C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7429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2FA2F-F018-4EA8-A4D8-80DBAAEEB5DA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296E2-8832-405A-89B8-5543DB8C8C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72955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2FA2F-F018-4EA8-A4D8-80DBAAEEB5DA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296E2-8832-405A-89B8-5543DB8C8C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2847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E422FA2F-F018-4EA8-A4D8-80DBAAEEB5DA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7B2296E2-8832-405A-89B8-5543DB8C8C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0814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e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581665" y="1548713"/>
            <a:ext cx="92263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</a:rPr>
              <a:t>HL-3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装置上</a:t>
            </a:r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</a:rPr>
              <a:t>#9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号窗口</a:t>
            </a:r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</a:rPr>
              <a:t>ECEI&amp;MIR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微波成像光路设计</a:t>
            </a:r>
            <a:endParaRPr lang="en-US" altLang="zh-CN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628237" y="3286897"/>
            <a:ext cx="30562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/>
              <a:t>中国科学技术大学</a:t>
            </a:r>
            <a:endParaRPr lang="en-US" altLang="zh-CN" sz="1600" dirty="0"/>
          </a:p>
          <a:p>
            <a:pPr>
              <a:lnSpc>
                <a:spcPct val="150000"/>
              </a:lnSpc>
            </a:pPr>
            <a:r>
              <a:rPr lang="zh-CN" altLang="en-US" sz="1600" dirty="0"/>
              <a:t>核工业西南物理研究所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815546" y="3583459"/>
            <a:ext cx="45802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ECEI</a:t>
            </a:r>
            <a:r>
              <a:rPr lang="zh-CN" altLang="en-US" dirty="0"/>
              <a:t>光路设计</a:t>
            </a:r>
            <a:endParaRPr lang="en-US" altLang="zh-CN" dirty="0"/>
          </a:p>
          <a:p>
            <a:r>
              <a:rPr lang="en-US" altLang="zh-CN" dirty="0"/>
              <a:t>ECEI</a:t>
            </a:r>
            <a:r>
              <a:rPr lang="zh-CN" altLang="en-US" dirty="0"/>
              <a:t>光路评估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051D03C-FF46-223E-0609-554C5C5142D5}"/>
              </a:ext>
            </a:extLst>
          </p:cNvPr>
          <p:cNvSpPr txBox="1"/>
          <p:nvPr/>
        </p:nvSpPr>
        <p:spPr>
          <a:xfrm>
            <a:off x="3043003" y="5216577"/>
            <a:ext cx="6505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如何评估场曲，三维查看？高斯光束追迹？</a:t>
            </a:r>
            <a:r>
              <a:rPr lang="en-US" altLang="zh-CN" dirty="0" err="1"/>
              <a:t>Fft</a:t>
            </a:r>
            <a:r>
              <a:rPr lang="zh-CN" altLang="en-US" dirty="0"/>
              <a:t>？</a:t>
            </a:r>
          </a:p>
        </p:txBody>
      </p:sp>
    </p:spTree>
    <p:extLst>
      <p:ext uri="{BB962C8B-B14F-4D97-AF65-F5344CB8AC3E}">
        <p14:creationId xmlns:p14="http://schemas.microsoft.com/office/powerpoint/2010/main" val="42039088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E99A3B5-7C6C-817C-4537-1D0A92A6FC81}"/>
              </a:ext>
            </a:extLst>
          </p:cNvPr>
          <p:cNvSpPr txBox="1"/>
          <p:nvPr/>
        </p:nvSpPr>
        <p:spPr>
          <a:xfrm>
            <a:off x="824459" y="554636"/>
            <a:ext cx="1113769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正式报告：</a:t>
            </a:r>
            <a:endParaRPr lang="en-US" altLang="zh-CN" dirty="0"/>
          </a:p>
          <a:p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en-US" altLang="zh-CN" dirty="0"/>
              <a:t>ECEI</a:t>
            </a:r>
            <a:r>
              <a:rPr lang="zh-CN" altLang="en-US" dirty="0"/>
              <a:t>和</a:t>
            </a:r>
            <a:r>
              <a:rPr lang="en-US" altLang="zh-CN" dirty="0"/>
              <a:t>MIR</a:t>
            </a:r>
            <a:r>
              <a:rPr lang="zh-CN" altLang="en-US" dirty="0"/>
              <a:t>光路文件名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光路参数、透镜功能介绍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光路图片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聚集位置、场曲、极向观测范围、径向调节范围和场曲调节范围（</a:t>
            </a:r>
            <a:r>
              <a:rPr lang="en-US" altLang="zh-CN" dirty="0"/>
              <a:t>ECEI</a:t>
            </a:r>
            <a:r>
              <a:rPr lang="zh-CN" altLang="en-US" dirty="0"/>
              <a:t>和</a:t>
            </a:r>
            <a:r>
              <a:rPr lang="en-US" altLang="zh-CN" dirty="0"/>
              <a:t>MIR</a:t>
            </a:r>
            <a:r>
              <a:rPr lang="zh-CN" altLang="en-US" dirty="0"/>
              <a:t>左右列表各一个）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E16EF25-7EF1-90B1-0EE7-C4CBCA8473F5}"/>
              </a:ext>
            </a:extLst>
          </p:cNvPr>
          <p:cNvSpPr txBox="1"/>
          <p:nvPr/>
        </p:nvSpPr>
        <p:spPr>
          <a:xfrm>
            <a:off x="0" y="3429000"/>
            <a:ext cx="1113769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光路基本参数：</a:t>
            </a:r>
            <a:endParaRPr lang="en-US" altLang="zh-CN" dirty="0"/>
          </a:p>
          <a:p>
            <a:r>
              <a:rPr lang="zh-CN" altLang="en-US" dirty="0"/>
              <a:t>波长</a:t>
            </a:r>
            <a:r>
              <a:rPr lang="en-US" altLang="zh-CN" dirty="0"/>
              <a:t>4000000nm</a:t>
            </a:r>
          </a:p>
          <a:p>
            <a:r>
              <a:rPr lang="zh-CN" altLang="en-US" dirty="0"/>
              <a:t>视场（天线尺寸）：</a:t>
            </a:r>
            <a:r>
              <a:rPr lang="en-US" altLang="zh-CN" dirty="0"/>
              <a:t>300mm</a:t>
            </a:r>
          </a:p>
          <a:p>
            <a:r>
              <a:rPr lang="zh-CN" altLang="en-US" dirty="0"/>
              <a:t>折射率：</a:t>
            </a:r>
            <a:r>
              <a:rPr lang="en-US" altLang="zh-CN" dirty="0"/>
              <a:t>1.609</a:t>
            </a:r>
          </a:p>
          <a:p>
            <a:r>
              <a:rPr lang="zh-CN" altLang="en-US" dirty="0"/>
              <a:t>光斑：</a:t>
            </a:r>
            <a:r>
              <a:rPr lang="en-US" altLang="zh-CN" dirty="0"/>
              <a:t>11mm</a:t>
            </a:r>
          </a:p>
          <a:p>
            <a:r>
              <a:rPr lang="zh-CN" altLang="en-US" dirty="0"/>
              <a:t>光瞳规格</a:t>
            </a:r>
            <a:r>
              <a:rPr lang="en-US" altLang="zh-CN" dirty="0"/>
              <a:t>0.0500</a:t>
            </a:r>
          </a:p>
          <a:p>
            <a:r>
              <a:rPr lang="zh-CN" altLang="en-US"/>
              <a:t>参考光线要定义</a:t>
            </a:r>
            <a:endParaRPr lang="en-US" altLang="zh-CN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9111745-EBE0-5B9D-E6D6-534BF308E4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2001" y="3101340"/>
            <a:ext cx="8820150" cy="3609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575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A6F7492B-3DB0-1C3A-6F01-FC1C910CE6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166211"/>
              </p:ext>
            </p:extLst>
          </p:nvPr>
        </p:nvGraphicFramePr>
        <p:xfrm>
          <a:off x="1912079" y="1828939"/>
          <a:ext cx="8128000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297968313"/>
                    </a:ext>
                  </a:extLst>
                </a:gridCol>
                <a:gridCol w="1692223">
                  <a:extLst>
                    <a:ext uri="{9D8B030D-6E8A-4147-A177-3AD203B41FA5}">
                      <a16:colId xmlns:a16="http://schemas.microsoft.com/office/drawing/2014/main" val="366182350"/>
                    </a:ext>
                  </a:extLst>
                </a:gridCol>
                <a:gridCol w="2371777">
                  <a:extLst>
                    <a:ext uri="{9D8B030D-6E8A-4147-A177-3AD203B41FA5}">
                      <a16:colId xmlns:a16="http://schemas.microsoft.com/office/drawing/2014/main" val="315741664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7515181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光线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Y</a:t>
                      </a:r>
                      <a:r>
                        <a:rPr lang="zh-CN" altLang="en-US" dirty="0"/>
                        <a:t>高度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束腰位置</a:t>
                      </a:r>
                      <a:r>
                        <a:rPr lang="en-US" altLang="zh-CN" dirty="0"/>
                        <a:t>X</a:t>
                      </a:r>
                      <a:r>
                        <a:rPr lang="zh-CN" altLang="en-US" dirty="0"/>
                        <a:t>（</a:t>
                      </a:r>
                      <a:r>
                        <a:rPr lang="en-US" altLang="zh-CN" dirty="0"/>
                        <a:t>H-plane</a:t>
                      </a:r>
                      <a:r>
                        <a:rPr lang="zh-CN" altLang="en-US" dirty="0"/>
                        <a:t>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束腰位置</a:t>
                      </a:r>
                      <a:r>
                        <a:rPr lang="en-US" altLang="zh-CN" dirty="0"/>
                        <a:t>Y</a:t>
                      </a:r>
                      <a:r>
                        <a:rPr lang="zh-CN" altLang="en-US" dirty="0"/>
                        <a:t>（</a:t>
                      </a:r>
                      <a:r>
                        <a:rPr lang="en-US" altLang="zh-CN" dirty="0"/>
                        <a:t>E-plane</a:t>
                      </a:r>
                      <a:r>
                        <a:rPr lang="zh-CN" altLang="en-US" dirty="0"/>
                        <a:t>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458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146.685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-100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9598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66.675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-120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29265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-125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44387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-66.675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-120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82455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-146.685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-100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70613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7599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FF93BBA-BBCA-59B1-14FD-B54D655D98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787" y="585787"/>
            <a:ext cx="10258425" cy="568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55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166949" y="1190647"/>
            <a:ext cx="882001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ECEI窗口环境，关键确定下</a:t>
            </a:r>
            <a:endParaRPr lang="en-US" altLang="zh-CN" dirty="0"/>
          </a:p>
          <a:p>
            <a:r>
              <a:rPr lang="zh-CN" altLang="en-US" dirty="0"/>
              <a:t>1、窗口尺寸，长</a:t>
            </a:r>
            <a:r>
              <a:rPr lang="en-US" altLang="zh-CN" dirty="0"/>
              <a:t>×</a:t>
            </a:r>
            <a:r>
              <a:rPr lang="zh-CN" altLang="en-US" dirty="0"/>
              <a:t>宽</a:t>
            </a:r>
            <a:r>
              <a:rPr lang="en-US" altLang="zh-CN" dirty="0"/>
              <a:t>×</a:t>
            </a:r>
            <a:r>
              <a:rPr lang="zh-CN" altLang="en-US" dirty="0"/>
              <a:t>厚。（窗口做成单曲面胶合透镜）</a:t>
            </a:r>
            <a:endParaRPr lang="en-US" altLang="zh-CN" dirty="0"/>
          </a:p>
          <a:p>
            <a:r>
              <a:rPr lang="zh-CN" altLang="en-US" dirty="0"/>
              <a:t>2、窗口到等体边界的距离，小半径多少</a:t>
            </a:r>
            <a:endParaRPr lang="en-US" altLang="zh-CN" dirty="0"/>
          </a:p>
          <a:p>
            <a:r>
              <a:rPr lang="zh-CN" altLang="en-US" dirty="0"/>
              <a:t>3、光路的总长度，若光路共享，左右分光还是上下分光。</a:t>
            </a:r>
            <a:endParaRPr lang="en-US" altLang="zh-CN" dirty="0"/>
          </a:p>
          <a:p>
            <a:r>
              <a:rPr lang="zh-CN" altLang="en-US" dirty="0"/>
              <a:t>4、光路中是否需要反射镜改变光路方向，需要的话需要几块反射镜，反射镜的位置在哪（反射镜位置会影响透镜的移动范围）</a:t>
            </a:r>
            <a:endParaRPr lang="en-US" altLang="zh-CN" dirty="0"/>
          </a:p>
          <a:p>
            <a:r>
              <a:rPr lang="zh-CN" altLang="en-US" dirty="0"/>
              <a:t>5、极向观测宽度</a:t>
            </a:r>
            <a:endParaRPr lang="en-US" altLang="zh-CN" dirty="0"/>
          </a:p>
          <a:p>
            <a:r>
              <a:rPr lang="zh-CN" altLang="en-US" dirty="0"/>
              <a:t>6、径向调节范围。</a:t>
            </a:r>
          </a:p>
        </p:txBody>
      </p:sp>
    </p:spTree>
    <p:extLst>
      <p:ext uri="{BB962C8B-B14F-4D97-AF65-F5344CB8AC3E}">
        <p14:creationId xmlns:p14="http://schemas.microsoft.com/office/powerpoint/2010/main" val="3899733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210697" y="2333897"/>
            <a:ext cx="3657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大观测范围</a:t>
            </a:r>
            <a:endParaRPr lang="en-US" altLang="zh-CN" dirty="0"/>
          </a:p>
          <a:p>
            <a:r>
              <a:rPr lang="zh-CN" altLang="en-US" dirty="0"/>
              <a:t>平的相面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瑞丽长度表征</a:t>
            </a:r>
            <a:r>
              <a:rPr lang="en-US" altLang="zh-CN" dirty="0"/>
              <a:t>error bar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836023" y="1114697"/>
            <a:ext cx="536448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创新点：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光程最短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透镜最少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胶合透镜，极向和径向聚焦同时调节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H plan</a:t>
            </a:r>
            <a:r>
              <a:rPr lang="zh-CN" altLang="en-US" dirty="0"/>
              <a:t>方向上尽可能平行传输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环向和径向的聚焦位置相同。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r>
              <a:rPr lang="zh-CN" altLang="en-US" dirty="0"/>
              <a:t>基本要求：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大的观测范围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平的相面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径向调节范围</a:t>
            </a:r>
            <a:endParaRPr lang="en-US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6958149" y="1714500"/>
            <a:ext cx="2271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关于瑞利长度！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052265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87" y="666749"/>
            <a:ext cx="8705850" cy="503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0250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/>
          <a:srcRect l="19257" t="47580" r="10270" b="11333"/>
          <a:stretch/>
        </p:blipFill>
        <p:spPr>
          <a:xfrm>
            <a:off x="1046205" y="535460"/>
            <a:ext cx="8592065" cy="1853514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889686" y="3583459"/>
            <a:ext cx="93046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/>
              <a:t>2M</a:t>
            </a:r>
            <a:r>
              <a:rPr lang="zh-CN" altLang="en-US" dirty="0"/>
              <a:t>小半径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窗口到刮削层距离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6150" y="2852737"/>
            <a:ext cx="8705850" cy="503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6732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705100" y="-6482864"/>
            <a:ext cx="6096000" cy="2102113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000" dirty="0"/>
              <a:t> HFS</a:t>
            </a:r>
          </a:p>
          <a:p>
            <a:r>
              <a:rPr lang="en-US" altLang="zh-CN" sz="1000" dirty="0"/>
              <a:t>                RDY             THI     RMD       GLA           CCY   THC   GLC</a:t>
            </a:r>
          </a:p>
          <a:p>
            <a:r>
              <a:rPr lang="en-US" altLang="zh-CN" sz="1000" dirty="0"/>
              <a:t>&gt; OBJ:        INFINITY      300.000000                          100   100</a:t>
            </a:r>
          </a:p>
          <a:p>
            <a:r>
              <a:rPr lang="en-US" altLang="zh-CN" sz="1000" dirty="0"/>
              <a:t>    1:      1000.00000      120.000000       'HDPE'             100   100</a:t>
            </a:r>
          </a:p>
          <a:p>
            <a:r>
              <a:rPr lang="en-US" altLang="zh-CN" sz="1000" dirty="0"/>
              <a:t>      SLB: "E-1"</a:t>
            </a:r>
          </a:p>
          <a:p>
            <a:r>
              <a:rPr lang="en-US" altLang="zh-CN" sz="1000" dirty="0"/>
              <a:t>      YTO:</a:t>
            </a:r>
          </a:p>
          <a:p>
            <a:r>
              <a:rPr lang="en-US" altLang="zh-CN" sz="1000" dirty="0"/>
              <a:t>      RDX:   200.00000   CCX:     100</a:t>
            </a:r>
          </a:p>
          <a:p>
            <a:r>
              <a:rPr lang="en-US" altLang="zh-CN" sz="1000" dirty="0"/>
              <a:t>      K  :    0.000000   KC :     100</a:t>
            </a:r>
          </a:p>
          <a:p>
            <a:r>
              <a:rPr lang="en-US" altLang="zh-CN" sz="1000" dirty="0"/>
              <a:t>      A  :0.000000E+00   B  :0.000000E+00   C  :0.000000E+00   D  :0.000000E+00</a:t>
            </a:r>
          </a:p>
          <a:p>
            <a:r>
              <a:rPr lang="en-US" altLang="zh-CN" sz="1000" dirty="0"/>
              <a:t>      AC :     100       BC :     100       CC :     100       DC :     100</a:t>
            </a:r>
          </a:p>
          <a:p>
            <a:endParaRPr lang="en-US" altLang="zh-CN" sz="1000" dirty="0"/>
          </a:p>
          <a:p>
            <a:r>
              <a:rPr lang="en-US" altLang="zh-CN" sz="1000" dirty="0"/>
              <a:t>    2:     -1000.00000      550.000000                          100   100</a:t>
            </a:r>
          </a:p>
          <a:p>
            <a:r>
              <a:rPr lang="en-US" altLang="zh-CN" sz="1000" dirty="0"/>
              <a:t>      YTO:</a:t>
            </a:r>
          </a:p>
          <a:p>
            <a:r>
              <a:rPr lang="en-US" altLang="zh-CN" sz="1000" dirty="0"/>
              <a:t>      RDX:  -200.00000   CCX:     100</a:t>
            </a:r>
          </a:p>
          <a:p>
            <a:r>
              <a:rPr lang="en-US" altLang="zh-CN" sz="1000" dirty="0"/>
              <a:t>      K  :    0.000000   KC :     100</a:t>
            </a:r>
          </a:p>
          <a:p>
            <a:r>
              <a:rPr lang="en-US" altLang="zh-CN" sz="1000" dirty="0"/>
              <a:t>      A  :0.000000E+00   B  :0.000000E+00   C  :0.000000E+00   D  :0.000000E+00</a:t>
            </a:r>
          </a:p>
          <a:p>
            <a:r>
              <a:rPr lang="en-US" altLang="zh-CN" sz="1000" dirty="0"/>
              <a:t>      AC :     100       BC :     100       CC :     100       DC :     100</a:t>
            </a:r>
          </a:p>
          <a:p>
            <a:endParaRPr lang="en-US" altLang="zh-CN" sz="1000" dirty="0"/>
          </a:p>
          <a:p>
            <a:r>
              <a:rPr lang="en-US" altLang="zh-CN" sz="1000" dirty="0"/>
              <a:t>    3:      -920.00000       50.000000       'HDPE'             100   100</a:t>
            </a:r>
          </a:p>
          <a:p>
            <a:r>
              <a:rPr lang="en-US" altLang="zh-CN" sz="1000" dirty="0"/>
              <a:t>      SLB: "E zoom1"</a:t>
            </a:r>
          </a:p>
          <a:p>
            <a:r>
              <a:rPr lang="en-US" altLang="zh-CN" sz="1000" dirty="0"/>
              <a:t>    4:        INFINITY      101.800000                          100   100</a:t>
            </a:r>
          </a:p>
          <a:p>
            <a:r>
              <a:rPr lang="en-US" altLang="zh-CN" sz="1000" dirty="0"/>
              <a:t>    5:      -920.00000      500.000000                          100   100</a:t>
            </a:r>
          </a:p>
          <a:p>
            <a:r>
              <a:rPr lang="en-US" altLang="zh-CN" sz="1000" dirty="0"/>
              <a:t>      CYL:</a:t>
            </a:r>
          </a:p>
          <a:p>
            <a:r>
              <a:rPr lang="en-US" altLang="zh-CN" sz="1000" dirty="0"/>
              <a:t>      RDX:    INFINITY   CCX:     100</a:t>
            </a:r>
          </a:p>
          <a:p>
            <a:endParaRPr lang="en-US" altLang="zh-CN" sz="1000" dirty="0"/>
          </a:p>
          <a:p>
            <a:r>
              <a:rPr lang="en-US" altLang="zh-CN" sz="1000" dirty="0"/>
              <a:t>    6:      1000.00000      120.000000       'HDPE'             100   100</a:t>
            </a:r>
          </a:p>
          <a:p>
            <a:r>
              <a:rPr lang="en-US" altLang="zh-CN" sz="1000" dirty="0"/>
              <a:t>      SLB: "H-2"</a:t>
            </a:r>
          </a:p>
          <a:p>
            <a:r>
              <a:rPr lang="en-US" altLang="zh-CN" sz="1000" dirty="0"/>
              <a:t>      YTO:</a:t>
            </a:r>
          </a:p>
          <a:p>
            <a:r>
              <a:rPr lang="en-US" altLang="zh-CN" sz="1000" dirty="0"/>
              <a:t>      RDX:   500.00000   CCX:     100</a:t>
            </a:r>
          </a:p>
          <a:p>
            <a:r>
              <a:rPr lang="en-US" altLang="zh-CN" sz="1000" dirty="0"/>
              <a:t>      K  :    0.000000   KC :     100</a:t>
            </a:r>
          </a:p>
          <a:p>
            <a:r>
              <a:rPr lang="en-US" altLang="zh-CN" sz="1000" dirty="0"/>
              <a:t>      A  :0.000000E+00   B  :0.000000E+00   C  :0.000000E+00   D  :0.000000E+00</a:t>
            </a:r>
          </a:p>
          <a:p>
            <a:r>
              <a:rPr lang="en-US" altLang="zh-CN" sz="1000" dirty="0"/>
              <a:t>      AC :     100       BC :     100       CC :     100       DC :     100</a:t>
            </a:r>
          </a:p>
          <a:p>
            <a:endParaRPr lang="en-US" altLang="zh-CN" sz="1000" dirty="0"/>
          </a:p>
          <a:p>
            <a:r>
              <a:rPr lang="en-US" altLang="zh-CN" sz="1000" dirty="0"/>
              <a:t>    7:     -1000.00000       20.000000                          100   100</a:t>
            </a:r>
          </a:p>
          <a:p>
            <a:r>
              <a:rPr lang="en-US" altLang="zh-CN" sz="1000" dirty="0"/>
              <a:t>      YTO:</a:t>
            </a:r>
          </a:p>
          <a:p>
            <a:r>
              <a:rPr lang="en-US" altLang="zh-CN" sz="1000" dirty="0"/>
              <a:t>      RDX:  -500.00000   CCX:     100</a:t>
            </a:r>
          </a:p>
          <a:p>
            <a:r>
              <a:rPr lang="en-US" altLang="zh-CN" sz="1000" dirty="0"/>
              <a:t>      K  :    0.000000   KC :     100</a:t>
            </a:r>
          </a:p>
          <a:p>
            <a:r>
              <a:rPr lang="en-US" altLang="zh-CN" sz="1000" dirty="0"/>
              <a:t>      A  :0.000000E+00   B  :0.000000E+00   C  :0.000000E+00   D  :0.000000E+00</a:t>
            </a:r>
          </a:p>
          <a:p>
            <a:r>
              <a:rPr lang="en-US" altLang="zh-CN" sz="1000" dirty="0"/>
              <a:t>      AC :     100       BC :     100       CC :     100       DC :     100</a:t>
            </a:r>
          </a:p>
          <a:p>
            <a:endParaRPr lang="en-US" altLang="zh-CN" sz="1000" dirty="0"/>
          </a:p>
          <a:p>
            <a:r>
              <a:rPr lang="en-US" altLang="zh-CN" sz="1000" dirty="0"/>
              <a:t>  STO:        INFINITY       75.000000       'HDPE'             100   100</a:t>
            </a:r>
          </a:p>
          <a:p>
            <a:r>
              <a:rPr lang="en-US" altLang="zh-CN" sz="1000" dirty="0"/>
              <a:t>    9:        INFINITY       52.000000                          100   100</a:t>
            </a:r>
          </a:p>
          <a:p>
            <a:r>
              <a:rPr lang="en-US" altLang="zh-CN" sz="1000" dirty="0"/>
              <a:t>   10:        INFINITY      210.000000                          100   100</a:t>
            </a:r>
          </a:p>
          <a:p>
            <a:r>
              <a:rPr lang="en-US" altLang="zh-CN" sz="1000" dirty="0"/>
              <a:t>   11:        INFINITY      100.000000                          100   100</a:t>
            </a:r>
          </a:p>
          <a:p>
            <a:r>
              <a:rPr lang="en-US" altLang="zh-CN" sz="1000" dirty="0"/>
              <a:t>   12:        INFINITY      300.000000                          100   100</a:t>
            </a:r>
          </a:p>
          <a:p>
            <a:r>
              <a:rPr lang="en-US" altLang="zh-CN" sz="1000" dirty="0"/>
              <a:t>   13:        INFINITY     2735.928785                          100   100</a:t>
            </a:r>
          </a:p>
          <a:p>
            <a:r>
              <a:rPr lang="en-US" altLang="zh-CN" sz="1000" dirty="0"/>
              <a:t>  IMG:        INFINITY        0.000000                          100   100</a:t>
            </a:r>
          </a:p>
          <a:p>
            <a:endParaRPr lang="en-US" altLang="zh-CN" sz="1000" dirty="0"/>
          </a:p>
          <a:p>
            <a:r>
              <a:rPr lang="en-US" altLang="zh-CN" sz="1000" dirty="0"/>
              <a:t>SPECIFICATION DATA</a:t>
            </a:r>
          </a:p>
          <a:p>
            <a:r>
              <a:rPr lang="en-US" altLang="zh-CN" sz="1000" dirty="0"/>
              <a:t>   NAO        0.11570</a:t>
            </a:r>
          </a:p>
          <a:p>
            <a:r>
              <a:rPr lang="en-US" altLang="zh-CN" sz="1000" dirty="0"/>
              <a:t>   TEL</a:t>
            </a:r>
          </a:p>
          <a:p>
            <a:r>
              <a:rPr lang="en-US" altLang="zh-CN" sz="1000" dirty="0"/>
              <a:t>   DIM             MM</a:t>
            </a:r>
          </a:p>
          <a:p>
            <a:r>
              <a:rPr lang="en-US" altLang="zh-CN" sz="1000" dirty="0"/>
              <a:t>   WL      4000000.00</a:t>
            </a:r>
          </a:p>
          <a:p>
            <a:r>
              <a:rPr lang="en-US" altLang="zh-CN" sz="1000" dirty="0"/>
              <a:t>   REF              1</a:t>
            </a:r>
          </a:p>
          <a:p>
            <a:r>
              <a:rPr lang="en-US" altLang="zh-CN" sz="1000" dirty="0"/>
              <a:t>   WTW              1</a:t>
            </a:r>
          </a:p>
          <a:p>
            <a:r>
              <a:rPr lang="en-US" altLang="zh-CN" sz="1000" dirty="0"/>
              <a:t>   XOB        0.00000       0.00000       0.00000</a:t>
            </a:r>
          </a:p>
          <a:p>
            <a:r>
              <a:rPr lang="en-US" altLang="zh-CN" sz="1000" dirty="0"/>
              <a:t>   YOB        0.00000     160.00000    -160.00000</a:t>
            </a:r>
          </a:p>
          <a:p>
            <a:r>
              <a:rPr lang="en-US" altLang="zh-CN" sz="1000" dirty="0"/>
              <a:t>   WTF        1.00000       1.00000       1.00000</a:t>
            </a:r>
          </a:p>
          <a:p>
            <a:r>
              <a:rPr lang="en-US" altLang="zh-CN" sz="1000" dirty="0"/>
              <a:t>   VUX        0.00000       0.00000       0.00000</a:t>
            </a:r>
          </a:p>
          <a:p>
            <a:r>
              <a:rPr lang="en-US" altLang="zh-CN" sz="1000" dirty="0"/>
              <a:t>   VLX        0.00000       0.00000       0.00000</a:t>
            </a:r>
          </a:p>
          <a:p>
            <a:r>
              <a:rPr lang="en-US" altLang="zh-CN" sz="1000" dirty="0"/>
              <a:t>   VUY        0.00000       0.00000       0.00000</a:t>
            </a:r>
          </a:p>
          <a:p>
            <a:r>
              <a:rPr lang="en-US" altLang="zh-CN" sz="1000" dirty="0"/>
              <a:t>   VLY        0.00000       0.00000       0.00000</a:t>
            </a:r>
          </a:p>
          <a:p>
            <a:r>
              <a:rPr lang="en-US" altLang="zh-CN" sz="1000" dirty="0"/>
              <a:t>   POL            N</a:t>
            </a:r>
          </a:p>
          <a:p>
            <a:endParaRPr lang="en-US" altLang="zh-CN" sz="1000" dirty="0"/>
          </a:p>
          <a:p>
            <a:r>
              <a:rPr lang="en-US" altLang="zh-CN" sz="1000" dirty="0"/>
              <a:t>APERTURE DATA/EDGE DEFINITIONS</a:t>
            </a:r>
          </a:p>
          <a:p>
            <a:r>
              <a:rPr lang="en-US" altLang="zh-CN" sz="1000" dirty="0"/>
              <a:t>   CA</a:t>
            </a:r>
          </a:p>
          <a:p>
            <a:r>
              <a:rPr lang="en-US" altLang="zh-CN" sz="1000" dirty="0"/>
              <a:t>   REX S1                 100.000000</a:t>
            </a:r>
          </a:p>
          <a:p>
            <a:r>
              <a:rPr lang="en-US" altLang="zh-CN" sz="1000" dirty="0"/>
              <a:t>   REY S1                 270.000000</a:t>
            </a:r>
          </a:p>
          <a:p>
            <a:r>
              <a:rPr lang="en-US" altLang="zh-CN" sz="1000" dirty="0"/>
              <a:t>   REX S2                 150.000000</a:t>
            </a:r>
          </a:p>
          <a:p>
            <a:r>
              <a:rPr lang="en-US" altLang="zh-CN" sz="1000" dirty="0"/>
              <a:t>   REY S2                 270.000000</a:t>
            </a:r>
          </a:p>
          <a:p>
            <a:r>
              <a:rPr lang="en-US" altLang="zh-CN" sz="1000" dirty="0"/>
              <a:t>   REX S3                 100.000000</a:t>
            </a:r>
          </a:p>
          <a:p>
            <a:r>
              <a:rPr lang="en-US" altLang="zh-CN" sz="1000" dirty="0"/>
              <a:t>   REY S3                 390.000000</a:t>
            </a:r>
          </a:p>
          <a:p>
            <a:r>
              <a:rPr lang="en-US" altLang="zh-CN" sz="1000" dirty="0"/>
              <a:t>   REX S4                 100.000000</a:t>
            </a:r>
          </a:p>
          <a:p>
            <a:r>
              <a:rPr lang="en-US" altLang="zh-CN" sz="1000" dirty="0"/>
              <a:t>   REY S4                 390.000000</a:t>
            </a:r>
          </a:p>
          <a:p>
            <a:r>
              <a:rPr lang="en-US" altLang="zh-CN" sz="1000" dirty="0"/>
              <a:t>   REX S5                 100.000000</a:t>
            </a:r>
          </a:p>
          <a:p>
            <a:r>
              <a:rPr lang="en-US" altLang="zh-CN" sz="1000" dirty="0"/>
              <a:t>   REY S5                 390.000000</a:t>
            </a:r>
          </a:p>
          <a:p>
            <a:r>
              <a:rPr lang="en-US" altLang="zh-CN" sz="1000" dirty="0"/>
              <a:t>   REX S6                 100.000000</a:t>
            </a:r>
          </a:p>
          <a:p>
            <a:r>
              <a:rPr lang="en-US" altLang="zh-CN" sz="1000" dirty="0"/>
              <a:t>   REY S6                 280.000000</a:t>
            </a:r>
          </a:p>
          <a:p>
            <a:r>
              <a:rPr lang="en-US" altLang="zh-CN" sz="1000" dirty="0"/>
              <a:t>   REX S7                 100.000000</a:t>
            </a:r>
          </a:p>
          <a:p>
            <a:r>
              <a:rPr lang="en-US" altLang="zh-CN" sz="1000" dirty="0"/>
              <a:t>   REY S7                 280.000000</a:t>
            </a:r>
          </a:p>
          <a:p>
            <a:r>
              <a:rPr lang="en-US" altLang="zh-CN" sz="1000" dirty="0"/>
              <a:t>   REX S8                  50.000000</a:t>
            </a:r>
          </a:p>
          <a:p>
            <a:r>
              <a:rPr lang="en-US" altLang="zh-CN" sz="1000" dirty="0"/>
              <a:t>   REY S8                 300.000000</a:t>
            </a:r>
          </a:p>
          <a:p>
            <a:r>
              <a:rPr lang="en-US" altLang="zh-CN" sz="1000" dirty="0"/>
              <a:t>   REX S9                  50.000000</a:t>
            </a:r>
          </a:p>
          <a:p>
            <a:r>
              <a:rPr lang="en-US" altLang="zh-CN" sz="1000" dirty="0"/>
              <a:t>   REY S9                 300.000000</a:t>
            </a:r>
          </a:p>
          <a:p>
            <a:endParaRPr lang="en-US" altLang="zh-CN" sz="1000" dirty="0"/>
          </a:p>
          <a:p>
            <a:r>
              <a:rPr lang="en-US" altLang="zh-CN" sz="1000" dirty="0"/>
              <a:t>PRIVATE CATALOG</a:t>
            </a:r>
          </a:p>
          <a:p>
            <a:r>
              <a:rPr lang="en-US" altLang="zh-CN" sz="1000" dirty="0"/>
              <a:t>   PWL          4000000.00</a:t>
            </a:r>
          </a:p>
          <a:p>
            <a:r>
              <a:rPr lang="en-US" altLang="zh-CN" sz="1000" dirty="0"/>
              <a:t>   'HDPE'         1.521800</a:t>
            </a:r>
          </a:p>
          <a:p>
            <a:endParaRPr lang="en-US" altLang="zh-CN" sz="1000" dirty="0"/>
          </a:p>
          <a:p>
            <a:r>
              <a:rPr lang="en-US" altLang="zh-CN" sz="1000" dirty="0"/>
              <a:t>REFRACTIVE INDICES</a:t>
            </a:r>
          </a:p>
          <a:p>
            <a:r>
              <a:rPr lang="en-US" altLang="zh-CN" sz="1000" dirty="0"/>
              <a:t>    GLASS CODE                4000000.00</a:t>
            </a:r>
          </a:p>
          <a:p>
            <a:r>
              <a:rPr lang="en-US" altLang="zh-CN" sz="1000" dirty="0"/>
              <a:t>   'HDPE'                       1.521800</a:t>
            </a:r>
          </a:p>
          <a:p>
            <a:endParaRPr lang="en-US" altLang="zh-CN" sz="1000" dirty="0"/>
          </a:p>
          <a:p>
            <a:r>
              <a:rPr lang="en-US" altLang="zh-CN" sz="1000" dirty="0"/>
              <a:t>No solves defined in system</a:t>
            </a:r>
          </a:p>
          <a:p>
            <a:endParaRPr lang="en-US" altLang="zh-CN" sz="1000" dirty="0"/>
          </a:p>
          <a:p>
            <a:r>
              <a:rPr lang="en-US" altLang="zh-CN" sz="1000" dirty="0"/>
              <a:t>No pickups defined in system</a:t>
            </a:r>
          </a:p>
          <a:p>
            <a:endParaRPr lang="en-US" altLang="zh-CN" sz="1000" dirty="0"/>
          </a:p>
          <a:p>
            <a:endParaRPr lang="en-US" altLang="zh-CN" sz="1000" dirty="0"/>
          </a:p>
          <a:p>
            <a:r>
              <a:rPr lang="en-US" altLang="zh-CN" sz="1000" dirty="0"/>
              <a:t>ZOOM DATA</a:t>
            </a:r>
          </a:p>
          <a:p>
            <a:endParaRPr lang="en-US" altLang="zh-CN" sz="1000" dirty="0"/>
          </a:p>
          <a:p>
            <a:r>
              <a:rPr lang="en-US" altLang="zh-CN" sz="1000" dirty="0"/>
              <a:t>ZOOM TITLE</a:t>
            </a:r>
          </a:p>
          <a:p>
            <a:r>
              <a:rPr lang="en-US" altLang="zh-CN" sz="1000" dirty="0"/>
              <a:t>   POS  1 "HFS"</a:t>
            </a:r>
          </a:p>
          <a:p>
            <a:r>
              <a:rPr lang="en-US" altLang="zh-CN" sz="1000" dirty="0"/>
              <a:t>   POS  2 "LFS"</a:t>
            </a:r>
          </a:p>
          <a:p>
            <a:endParaRPr lang="en-US" altLang="zh-CN" sz="1000" dirty="0"/>
          </a:p>
          <a:p>
            <a:r>
              <a:rPr lang="en-US" altLang="zh-CN" sz="1000" dirty="0"/>
              <a:t>                            POS 1       POS 2</a:t>
            </a:r>
          </a:p>
          <a:p>
            <a:endParaRPr lang="en-US" altLang="zh-CN" sz="1000" dirty="0"/>
          </a:p>
          <a:p>
            <a:r>
              <a:rPr lang="en-US" altLang="zh-CN" sz="1000" dirty="0"/>
              <a:t>   RSL                         DEF         </a:t>
            </a:r>
            <a:r>
              <a:rPr lang="en-US" altLang="zh-CN" sz="1000" dirty="0" err="1"/>
              <a:t>DEF</a:t>
            </a:r>
            <a:endParaRPr lang="en-US" altLang="zh-CN" sz="1000" dirty="0"/>
          </a:p>
          <a:p>
            <a:endParaRPr lang="en-US" altLang="zh-CN" sz="1000" dirty="0"/>
          </a:p>
          <a:p>
            <a:r>
              <a:rPr lang="en-US" altLang="zh-CN" sz="1000" dirty="0"/>
              <a:t>        This is a non-symmetric system.  If elements with power are</a:t>
            </a:r>
          </a:p>
          <a:p>
            <a:r>
              <a:rPr lang="en-US" altLang="zh-CN" sz="1000" dirty="0"/>
              <a:t>        decentered or tilted, the first order properties are probably</a:t>
            </a:r>
          </a:p>
          <a:p>
            <a:r>
              <a:rPr lang="en-US" altLang="zh-CN" sz="1000" dirty="0"/>
              <a:t>        inadequate in describing the system characteristics.</a:t>
            </a:r>
          </a:p>
          <a:p>
            <a:endParaRPr lang="en-US" altLang="zh-CN" sz="1000" dirty="0"/>
          </a:p>
          <a:p>
            <a:r>
              <a:rPr lang="en-US" altLang="zh-CN" sz="1000" dirty="0"/>
              <a:t>               POS 1      POS 2</a:t>
            </a:r>
          </a:p>
          <a:p>
            <a:r>
              <a:rPr lang="en-US" altLang="zh-CN" sz="1000" dirty="0"/>
              <a:t>INFINITE CONJUGATES</a:t>
            </a:r>
          </a:p>
          <a:p>
            <a:r>
              <a:rPr lang="en-US" altLang="zh-CN" sz="1000" dirty="0"/>
              <a:t>   EFL      1532.1039  1532.1039</a:t>
            </a:r>
          </a:p>
          <a:p>
            <a:r>
              <a:rPr lang="en-US" altLang="zh-CN" sz="1000" dirty="0"/>
              <a:t>   BFL      -988.0519  -988.0519</a:t>
            </a:r>
          </a:p>
          <a:p>
            <a:r>
              <a:rPr lang="en-US" altLang="zh-CN" sz="1000" dirty="0"/>
              <a:t>   FFL       330.3315   330.3315</a:t>
            </a:r>
          </a:p>
          <a:p>
            <a:r>
              <a:rPr lang="en-US" altLang="zh-CN" sz="1000" dirty="0"/>
              <a:t>   FNO         0.0000     0.0000</a:t>
            </a:r>
          </a:p>
          <a:p>
            <a:r>
              <a:rPr lang="en-US" altLang="zh-CN" sz="1000" dirty="0"/>
              <a:t>AT USED CONJUGATES</a:t>
            </a:r>
          </a:p>
          <a:p>
            <a:r>
              <a:rPr lang="en-US" altLang="zh-CN" sz="1000" dirty="0"/>
              <a:t>   RED         2.4306     2.4306</a:t>
            </a:r>
          </a:p>
          <a:p>
            <a:r>
              <a:rPr lang="en-US" altLang="zh-CN" sz="1000" dirty="0"/>
              <a:t>   FNO        10.5040    10.5040</a:t>
            </a:r>
          </a:p>
          <a:p>
            <a:r>
              <a:rPr lang="en-US" altLang="zh-CN" sz="1000" dirty="0"/>
              <a:t>   OBJ DIS   300.0000   300.0000</a:t>
            </a:r>
          </a:p>
          <a:p>
            <a:r>
              <a:rPr lang="en-US" altLang="zh-CN" sz="1000" dirty="0"/>
              <a:t>   TT       5234.7288  5234.7288</a:t>
            </a:r>
          </a:p>
          <a:p>
            <a:r>
              <a:rPr lang="en-US" altLang="zh-CN" sz="1000" dirty="0"/>
              <a:t>   IMG DIS  2735.9288  2735.9288</a:t>
            </a:r>
          </a:p>
          <a:p>
            <a:r>
              <a:rPr lang="en-US" altLang="zh-CN" sz="1000" dirty="0"/>
              <a:t>   OAL      2198.8000  2198.8000</a:t>
            </a:r>
          </a:p>
          <a:p>
            <a:r>
              <a:rPr lang="en-US" altLang="zh-CN" sz="1000" dirty="0"/>
              <a:t>   PARAXIAL IMAGE</a:t>
            </a:r>
          </a:p>
          <a:p>
            <a:r>
              <a:rPr lang="en-US" altLang="zh-CN" sz="1000" dirty="0"/>
              <a:t>    HT       388.9011   388.9011</a:t>
            </a:r>
          </a:p>
          <a:p>
            <a:r>
              <a:rPr lang="en-US" altLang="zh-CN" sz="1000" dirty="0"/>
              <a:t>    THI     2735.9288  2735.9288</a:t>
            </a:r>
          </a:p>
          <a:p>
            <a:r>
              <a:rPr lang="en-US" altLang="zh-CN" sz="1000" dirty="0"/>
              <a:t>   ANG         0.0000     0.0000</a:t>
            </a:r>
          </a:p>
          <a:p>
            <a:r>
              <a:rPr lang="en-US" altLang="zh-CN" sz="1000" dirty="0"/>
              <a:t>   ENTRANCE PUPIL</a:t>
            </a:r>
          </a:p>
          <a:p>
            <a:r>
              <a:rPr lang="en-US" altLang="zh-CN" sz="1000" dirty="0"/>
              <a:t>    DIA    0.2330E+10 </a:t>
            </a:r>
            <a:r>
              <a:rPr lang="en-US" altLang="zh-CN" sz="1000" dirty="0" err="1"/>
              <a:t>0.2330E+10</a:t>
            </a:r>
            <a:endParaRPr lang="en-US" altLang="zh-CN" sz="1000" dirty="0"/>
          </a:p>
          <a:p>
            <a:r>
              <a:rPr lang="en-US" altLang="zh-CN" sz="1000" dirty="0"/>
              <a:t>    THI    0.1000E+11 </a:t>
            </a:r>
            <a:r>
              <a:rPr lang="en-US" altLang="zh-CN" sz="1000" dirty="0" err="1"/>
              <a:t>0.1000E+11</a:t>
            </a:r>
            <a:endParaRPr lang="en-US" altLang="zh-CN" sz="1000" dirty="0"/>
          </a:p>
          <a:p>
            <a:r>
              <a:rPr lang="en-US" altLang="zh-CN" sz="1000" dirty="0"/>
              <a:t>   EXIT PUPIL</a:t>
            </a:r>
          </a:p>
          <a:p>
            <a:r>
              <a:rPr lang="en-US" altLang="zh-CN" sz="1000" dirty="0"/>
              <a:t>    DIA      356.9259   356.9259</a:t>
            </a:r>
          </a:p>
          <a:p>
            <a:r>
              <a:rPr lang="en-US" altLang="zh-CN" sz="1000" dirty="0"/>
              <a:t>    THI     -988.0522  -988.0522</a:t>
            </a:r>
          </a:p>
          <a:p>
            <a:r>
              <a:rPr lang="en-US" altLang="zh-CN" sz="1000" dirty="0"/>
              <a:t>   STO DIA   418.3402   418.3402</a:t>
            </a:r>
            <a:endParaRPr lang="zh-CN" altLang="en-US" sz="10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125" y="1735137"/>
            <a:ext cx="9658350" cy="328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161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562975" cy="30289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2152" y="0"/>
            <a:ext cx="38398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6991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737" y="1376362"/>
            <a:ext cx="8772525" cy="410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7071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71650" y="-12530138"/>
            <a:ext cx="7848600" cy="490537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771650" y="-7100888"/>
            <a:ext cx="7848600" cy="490537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771650" y="-2052638"/>
            <a:ext cx="7848600" cy="49053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771650" y="3414712"/>
            <a:ext cx="7848600" cy="49053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8586787"/>
            <a:ext cx="5972175" cy="44291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876425" y="13282612"/>
            <a:ext cx="7848600" cy="49053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6050" y="13282611"/>
            <a:ext cx="7848600" cy="49053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6050" y="8110537"/>
            <a:ext cx="7848600" cy="490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0749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212" y="3871911"/>
            <a:ext cx="3845204" cy="271475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3"/>
          <a:srcRect l="18696" r="17671"/>
          <a:stretch/>
        </p:blipFill>
        <p:spPr>
          <a:xfrm>
            <a:off x="5261426" y="0"/>
            <a:ext cx="6568624" cy="387191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4"/>
          <a:srcRect b="21020"/>
          <a:stretch/>
        </p:blipFill>
        <p:spPr>
          <a:xfrm>
            <a:off x="668643" y="381623"/>
            <a:ext cx="4179773" cy="3108664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5"/>
          <a:srcRect b="25000"/>
          <a:stretch/>
        </p:blipFill>
        <p:spPr>
          <a:xfrm>
            <a:off x="4994796" y="3871911"/>
            <a:ext cx="6984529" cy="26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6623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268627" y="1565189"/>
            <a:ext cx="28914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强调瑞利长度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414128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328086" y="1935892"/>
            <a:ext cx="5099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20231116 HL-3</a:t>
            </a:r>
            <a:r>
              <a:rPr lang="zh-CN" altLang="en-US" dirty="0"/>
              <a:t>上</a:t>
            </a:r>
            <a:r>
              <a:rPr lang="en-US" altLang="zh-CN" dirty="0"/>
              <a:t>ECEI</a:t>
            </a:r>
            <a:r>
              <a:rPr lang="zh-CN" altLang="en-US" dirty="0"/>
              <a:t>光路</a:t>
            </a:r>
          </a:p>
        </p:txBody>
      </p:sp>
    </p:spTree>
    <p:extLst>
      <p:ext uri="{BB962C8B-B14F-4D97-AF65-F5344CB8AC3E}">
        <p14:creationId xmlns:p14="http://schemas.microsoft.com/office/powerpoint/2010/main" val="19895391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1836" y="136053"/>
            <a:ext cx="9328327" cy="6585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5000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75" y="1762125"/>
            <a:ext cx="9124950" cy="462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0184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2469"/>
            <a:ext cx="12192000" cy="4573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6745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47700" y="698500"/>
            <a:ext cx="5143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20231122 ECEI</a:t>
            </a:r>
            <a:r>
              <a:rPr lang="zh-CN" altLang="en-US" dirty="0"/>
              <a:t>聚焦在</a:t>
            </a:r>
            <a:r>
              <a:rPr lang="en-US" altLang="zh-CN" dirty="0"/>
              <a:t>a=0.29cm</a:t>
            </a:r>
            <a:r>
              <a:rPr lang="zh-CN" altLang="en-US" dirty="0"/>
              <a:t>处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37" y="1195387"/>
            <a:ext cx="8772525" cy="37814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31800" y="4976812"/>
            <a:ext cx="10922000" cy="4104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5610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A6F7492B-3DB0-1C3A-6F01-FC1C910CE666}"/>
              </a:ext>
            </a:extLst>
          </p:cNvPr>
          <p:cNvGraphicFramePr>
            <a:graphicFrameLocks noGrp="1"/>
          </p:cNvGraphicFramePr>
          <p:nvPr/>
        </p:nvGraphicFramePr>
        <p:xfrm>
          <a:off x="1912079" y="1828939"/>
          <a:ext cx="812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29796831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618235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15741664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7515181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光线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Y</a:t>
                      </a:r>
                      <a:r>
                        <a:rPr lang="zh-CN" altLang="en-US" dirty="0"/>
                        <a:t>高度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束腰位置</a:t>
                      </a:r>
                      <a:r>
                        <a:rPr lang="en-US" altLang="zh-CN" dirty="0"/>
                        <a:t>X</a:t>
                      </a:r>
                      <a:r>
                        <a:rPr lang="zh-CN" altLang="en-US" dirty="0"/>
                        <a:t>（俯视）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束腰位置</a:t>
                      </a:r>
                      <a:r>
                        <a:rPr lang="en-US" altLang="zh-CN" dirty="0"/>
                        <a:t>Y</a:t>
                      </a:r>
                      <a:r>
                        <a:rPr lang="zh-CN" altLang="en-US" dirty="0"/>
                        <a:t>（主视）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458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9598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29265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44387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82455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70613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69108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50888" y="643120"/>
            <a:ext cx="1003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不换透镜参数，仅改变透镜位置实现聚焦位置调节至高场侧边界</a:t>
            </a:r>
            <a:r>
              <a:rPr lang="en-US" altLang="zh-CN" dirty="0"/>
              <a:t>-0.43cm</a:t>
            </a:r>
            <a:r>
              <a:rPr lang="zh-CN" altLang="en-US" dirty="0"/>
              <a:t>处和低场侧边界</a:t>
            </a:r>
            <a:r>
              <a:rPr lang="en-US" altLang="zh-CN" dirty="0"/>
              <a:t>0.43cm</a:t>
            </a:r>
            <a:r>
              <a:rPr lang="zh-CN" altLang="en-US" dirty="0"/>
              <a:t>处</a:t>
            </a:r>
          </a:p>
        </p:txBody>
      </p:sp>
    </p:spTree>
    <p:extLst>
      <p:ext uri="{BB962C8B-B14F-4D97-AF65-F5344CB8AC3E}">
        <p14:creationId xmlns:p14="http://schemas.microsoft.com/office/powerpoint/2010/main" val="36107905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17865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4251273"/>
      </p:ext>
    </p:extLst>
  </p:cSld>
  <p:clrMapOvr>
    <a:masterClrMapping/>
  </p:clrMapOvr>
</p:sld>
</file>

<file path=ppt/theme/theme1.xml><?xml version="1.0" encoding="utf-8"?>
<a:theme xmlns:a="http://schemas.openxmlformats.org/drawingml/2006/main" name="水滴">
  <a:themeElements>
    <a:clrScheme name="水滴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水滴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水滴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TM04033925[[fn=水滴]]</Template>
  <TotalTime>42969</TotalTime>
  <Words>1269</Words>
  <Application>Microsoft Office PowerPoint</Application>
  <PresentationFormat>Widescreen</PresentationFormat>
  <Paragraphs>216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等线</vt:lpstr>
      <vt:lpstr>黑体</vt:lpstr>
      <vt:lpstr>宋体</vt:lpstr>
      <vt:lpstr>Arial</vt:lpstr>
      <vt:lpstr>Tw Cen MT</vt:lpstr>
      <vt:lpstr>Wingdings</vt:lpstr>
      <vt:lpstr>水滴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Chengming Qu</dc:creator>
  <cp:lastModifiedBy>Xinhang Xu</cp:lastModifiedBy>
  <cp:revision>38</cp:revision>
  <cp:lastPrinted>2023-05-16T04:41:09Z</cp:lastPrinted>
  <dcterms:created xsi:type="dcterms:W3CDTF">2023-05-10T08:12:22Z</dcterms:created>
  <dcterms:modified xsi:type="dcterms:W3CDTF">2025-11-21T20:07:52Z</dcterms:modified>
</cp:coreProperties>
</file>